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da66ad5d454607" /><Relationship Type="http://schemas.openxmlformats.org/officeDocument/2006/relationships/extended-properties" Target="/docProps/app.xml" Id="R1d601bac7abc41c4" /><Relationship Type="http://schemas.openxmlformats.org/officeDocument/2006/relationships/officeDocument" Target="/ppt/presentation.xml" Id="Rb6932125456d42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cc89c841f645d3"/>
  </p:sldMasterIdLst>
  <p:notesMasterIdLst>
    <p:notesMasterId xmlns:r="http://schemas.openxmlformats.org/officeDocument/2006/relationships" r:id="R63a12259390948e8"/>
  </p:notesMasterIdLst>
  <p:sldIdLst>
    <p:sldId xmlns:r="http://schemas.openxmlformats.org/officeDocument/2006/relationships" id="256" r:id="Rd75c716c6d4244f5"/>
    <p:sldId xmlns:r="http://schemas.openxmlformats.org/officeDocument/2006/relationships" id="257" r:id="Re4498a63e5b54363"/>
    <p:sldId xmlns:r="http://schemas.openxmlformats.org/officeDocument/2006/relationships" id="258" r:id="R09b8ec15ca3a4b27"/>
    <p:sldId xmlns:r="http://schemas.openxmlformats.org/officeDocument/2006/relationships" id="259" r:id="R4779c908c7a9415f"/>
    <p:sldId xmlns:r="http://schemas.openxmlformats.org/officeDocument/2006/relationships" id="260" r:id="Rd36493ff3c6d4064"/>
    <p:sldId xmlns:r="http://schemas.openxmlformats.org/officeDocument/2006/relationships" id="261" r:id="R0c14513d366f4a21"/>
    <p:sldId xmlns:r="http://schemas.openxmlformats.org/officeDocument/2006/relationships" id="262" r:id="R2c1e0a61491b4be8"/>
    <p:sldId xmlns:r="http://schemas.openxmlformats.org/officeDocument/2006/relationships" id="263" r:id="R1d97e5282bea416d"/>
    <p:sldId xmlns:r="http://schemas.openxmlformats.org/officeDocument/2006/relationships" id="264" r:id="Rc077c377d79e4618"/>
    <p:sldId xmlns:r="http://schemas.openxmlformats.org/officeDocument/2006/relationships" id="265" r:id="Ra41874e4ca9c4a2e"/>
    <p:sldId xmlns:r="http://schemas.openxmlformats.org/officeDocument/2006/relationships" id="266" r:id="R907faaf0a1844d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b1341cbf6f4e1f" /><Relationship Type="http://schemas.openxmlformats.org/officeDocument/2006/relationships/slideMaster" Target="/ppt/slideMasters/slideMaster1.xml" Id="Rb1cc89c841f645d3" /><Relationship Type="http://schemas.openxmlformats.org/officeDocument/2006/relationships/notesMaster" Target="/ppt/notesMasters/notesMaster1.xml" Id="R63a12259390948e8" /><Relationship Type="http://schemas.openxmlformats.org/officeDocument/2006/relationships/presProps" Target="/ppt/presProps.xml" Id="R0ded829067ff4889" /><Relationship Type="http://schemas.openxmlformats.org/officeDocument/2006/relationships/tableStyles" Target="/ppt/tableStyles.xml" Id="Rf7ef34bf2f9547cd" /><Relationship Type="http://schemas.openxmlformats.org/officeDocument/2006/relationships/slide" Target="/ppt/slides/slide1.xml" Id="Rd75c716c6d4244f5" /><Relationship Type="http://schemas.openxmlformats.org/officeDocument/2006/relationships/slide" Target="/ppt/slides/slide2.xml" Id="Re4498a63e5b54363" /><Relationship Type="http://schemas.openxmlformats.org/officeDocument/2006/relationships/slide" Target="/ppt/slides/slide3.xml" Id="R09b8ec15ca3a4b27" /><Relationship Type="http://schemas.openxmlformats.org/officeDocument/2006/relationships/slide" Target="/ppt/slides/slide4.xml" Id="R4779c908c7a9415f" /><Relationship Type="http://schemas.openxmlformats.org/officeDocument/2006/relationships/slide" Target="/ppt/slides/slide5.xml" Id="Rd36493ff3c6d4064" /><Relationship Type="http://schemas.openxmlformats.org/officeDocument/2006/relationships/slide" Target="/ppt/slides/slide6.xml" Id="R0c14513d366f4a21" /><Relationship Type="http://schemas.openxmlformats.org/officeDocument/2006/relationships/slide" Target="/ppt/slides/slide7.xml" Id="R2c1e0a61491b4be8" /><Relationship Type="http://schemas.openxmlformats.org/officeDocument/2006/relationships/slide" Target="/ppt/slides/slide8.xml" Id="R1d97e5282bea416d" /><Relationship Type="http://schemas.openxmlformats.org/officeDocument/2006/relationships/slide" Target="/ppt/slides/slide9.xml" Id="Rc077c377d79e4618" /><Relationship Type="http://schemas.openxmlformats.org/officeDocument/2006/relationships/slide" Target="/ppt/slides/slide10.xml" Id="Ra41874e4ca9c4a2e" /><Relationship Type="http://schemas.openxmlformats.org/officeDocument/2006/relationships/slide" Target="/ppt/slides/slide11.xml" Id="R907faaf0a1844d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9d78a6770e45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Oracle Red Labs">
      <a:dk1>
        <a:srgbClr val="000000"/>
      </a:dk1>
      <a:lt1>
        <a:srgbClr val="FFFFFF"/>
      </a:lt1>
      <a:dk2>
        <a:srgbClr val="18181C"/>
      </a:dk2>
      <a:lt2>
        <a:srgbClr val="E7E2DA"/>
      </a:lt2>
      <a:accent1>
        <a:srgbClr val="E3202E"/>
      </a:accent1>
      <a:accent2>
        <a:srgbClr val="FF5B64"/>
      </a:accent2>
      <a:accent3>
        <a:srgbClr val="8B0F18"/>
      </a:accent3>
      <a:accent4>
        <a:srgbClr val="D7D3CC"/>
      </a:accent4>
      <a:accent5>
        <a:srgbClr val="747178"/>
      </a:accent5>
      <a:accent6>
        <a:srgbClr val="F2EEE7"/>
      </a:accent6>
      <a:hlink>
        <a:srgbClr val="FF5B64"/>
      </a:hlink>
      <a:folHlink>
        <a:srgbClr val="B83A4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racle Red Lab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c75a19c5d44eb5" /><Relationship Type="http://schemas.openxmlformats.org/officeDocument/2006/relationships/notesMaster" Target="/ppt/notesMasters/notesMaster1.xml" Id="Rcc865c3cf7c74d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268c561c6443ba" /><Relationship Type="http://schemas.openxmlformats.org/officeDocument/2006/relationships/notesMaster" Target="/ppt/notesMasters/notesMaster1.xml" Id="R1f94645d513b45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bacdcaedee481b" /><Relationship Type="http://schemas.openxmlformats.org/officeDocument/2006/relationships/notesMaster" Target="/ppt/notesMasters/notesMaster1.xml" Id="Ra028143acc234a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c94b8653e54b38" /><Relationship Type="http://schemas.openxmlformats.org/officeDocument/2006/relationships/notesMaster" Target="/ppt/notesMasters/notesMaster1.xml" Id="R31345fdc960943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063b0655bd4e65" /><Relationship Type="http://schemas.openxmlformats.org/officeDocument/2006/relationships/notesMaster" Target="/ppt/notesMasters/notesMaster1.xml" Id="Rbd1ccda31e6948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09a916d16474118" /><Relationship Type="http://schemas.openxmlformats.org/officeDocument/2006/relationships/notesMaster" Target="/ppt/notesMasters/notesMaster1.xml" Id="R815631fef9b046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2c40621e98431f" /><Relationship Type="http://schemas.openxmlformats.org/officeDocument/2006/relationships/notesMaster" Target="/ppt/notesMasters/notesMaster1.xml" Id="R43daf761e3644d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e0acb3fbb6427a" /><Relationship Type="http://schemas.openxmlformats.org/officeDocument/2006/relationships/notesMaster" Target="/ppt/notesMasters/notesMaster1.xml" Id="Rcf3c6a447fa346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e3388523eb64ffe" /><Relationship Type="http://schemas.openxmlformats.org/officeDocument/2006/relationships/notesMaster" Target="/ppt/notesMasters/notesMaster1.xml" Id="Ref5eb3407f3d452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80671a13c1a4a37" /><Relationship Type="http://schemas.openxmlformats.org/officeDocument/2006/relationships/notesMaster" Target="/ppt/notesMasters/notesMaster1.xml" Id="Re57e61bfa98b4f6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ce451e027dd4a24" /><Relationship Type="http://schemas.openxmlformats.org/officeDocument/2006/relationships/notesMaster" Target="/ppt/notesMasters/notesMaster1.xml" Id="R8c6a4bd9d6a347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Oracle Red Labs as a fictional academic security consultancy and explain that the implementation focuses on a complete, honest, demonstrable transaction.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proposal was intentionally narrowed to meet the course rubric with a complete database-backed workflow. Unsupported claims were removed from the interface.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The engagement request is the core evidence because it includes authentication, upload validation, a multi-table transaction, administrator updates, and client retrieval.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three access zones. Mention that unauthenticated attempts to open private pages are redirected to login, and administrator pages require the admin role.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the same-origin design and raw SQL. The structure keeps database work visible for assessment while separating routes, validation, middleware, and business rules.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engagements as the transactional center. Users own engagements, services are snapshotted for price, and dependent records provide targets, authorization evidence, invoice state, and status history.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Highlight that every state-changing endpoint requires a valid session, correct role, CSRF token, validated input, and parameterized query. Uploaded PDFs are outside the public directory.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the preserved engagement wizard, vault filters, and password confirmation, then show the new shared API helper, dashboard, detail page, and working administrator controls.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as the CRUD presentation checklist. Explain why engagements are cancelled instead of hard-deleted and why referenced services are deactivated.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evidence precisely: the default test run passes six tests and skips the opt-in database suite; that suite was then run separately against a live isolated MySQL instance and passed.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running the acceptance scenario. Keep separate client and administrator browser sessions open and use the included sample authorization 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51ef7160e14b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693b735cc84c2f" /><Relationship Type="http://schemas.openxmlformats.org/officeDocument/2006/relationships/slideLayout" Target="/ppt/slideLayouts/slideLayout1.xml" Id="Rd41fa1fd3df64d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1fa1fd3df64d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Oracle Red Labs">
      <a:dk1>
        <a:srgbClr val="000000"/>
      </a:dk1>
      <a:lt1>
        <a:srgbClr val="FFFFFF"/>
      </a:lt1>
      <a:dk2>
        <a:srgbClr val="18181C"/>
      </a:dk2>
      <a:lt2>
        <a:srgbClr val="E7E2DA"/>
      </a:lt2>
      <a:accent1>
        <a:srgbClr val="E3202E"/>
      </a:accent1>
      <a:accent2>
        <a:srgbClr val="FF5B64"/>
      </a:accent2>
      <a:accent3>
        <a:srgbClr val="8B0F18"/>
      </a:accent3>
      <a:accent4>
        <a:srgbClr val="D7D3CC"/>
      </a:accent4>
      <a:accent5>
        <a:srgbClr val="747178"/>
      </a:accent5>
      <a:accent6>
        <a:srgbClr val="F2EEE7"/>
      </a:accent6>
      <a:hlink>
        <a:srgbClr val="FF5B64"/>
      </a:hlink>
      <a:folHlink>
        <a:srgbClr val="B83A4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racle Red Lab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4394869795471b" /><Relationship Type="http://schemas.openxmlformats.org/officeDocument/2006/relationships/image" Target="/ppt/media/image.png" Id="R0e5c8516d08141a9" /><Relationship Type="http://schemas.openxmlformats.org/officeDocument/2006/relationships/notesSlide" Target="/ppt/notesSlides/notesSlide1.xml" Id="R79766bb8b3a740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24c1bbc82c4271" /><Relationship Type="http://schemas.openxmlformats.org/officeDocument/2006/relationships/notesSlide" Target="/ppt/notesSlides/notesSlide2.xml" Id="Re587e9b629df4f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dd138b5e07448e" /><Relationship Type="http://schemas.openxmlformats.org/officeDocument/2006/relationships/notesSlide" Target="/ppt/notesSlides/notesSlide3.xml" Id="Re322174408bf45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7067f8797e4c16" /><Relationship Type="http://schemas.openxmlformats.org/officeDocument/2006/relationships/notesSlide" Target="/ppt/notesSlides/notesSlide4.xml" Id="Rddfeac888bb24a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f78abf9b864a28" /><Relationship Type="http://schemas.openxmlformats.org/officeDocument/2006/relationships/notesSlide" Target="/ppt/notesSlides/notesSlide5.xml" Id="R919d90eca67647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c30c455c434f4c" /><Relationship Type="http://schemas.openxmlformats.org/officeDocument/2006/relationships/notesSlide" Target="/ppt/notesSlides/notesSlide6.xml" Id="R585aace60c5040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227ce901c84002" /><Relationship Type="http://schemas.openxmlformats.org/officeDocument/2006/relationships/notesSlide" Target="/ppt/notesSlides/notesSlide7.xml" Id="R1c55a133904340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760086e3874e87" /><Relationship Type="http://schemas.openxmlformats.org/officeDocument/2006/relationships/image" Target="/ppt/media/image.bin" Id="Rd41b9622405842e5" /><Relationship Type="http://schemas.openxmlformats.org/officeDocument/2006/relationships/notesSlide" Target="/ppt/notesSlides/notesSlide8.xml" Id="Rc5436557fd1e41c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c2842928df4083" /><Relationship Type="http://schemas.openxmlformats.org/officeDocument/2006/relationships/notesSlide" Target="/ppt/notesSlides/notesSlide9.xml" Id="Rc5b219f48361487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49cdffa0f47aa" /><Relationship Type="http://schemas.openxmlformats.org/officeDocument/2006/relationships/notesSlide" Target="/ppt/notesSlides/notesSlide10.xml" Id="R04038f53c04f4c0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9bbd2ea404542" /><Relationship Type="http://schemas.openxmlformats.org/officeDocument/2006/relationships/notesSlide" Target="/ppt/notesSlides/notesSlide11.xml" Id="R44228a966bb341e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5c8516d08141a9"/>
          <a:srcRect xmlns:a="http://schemas.openxmlformats.org/drawingml/2006/main" l="27332" t="0" r="273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3DC2B-53A1-4AE1-86EA-00A9397B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238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90B"/>
          </a:solidFill>
          <a:ln xmlns:a="http://schemas.openxmlformats.org/drawingml/2006/main" w="0">
            <a:solidFill>
              <a:srgbClr val="09090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BAA30A-4D35-4480-BAE3-E3B9F9B8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2190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1017"/>
          </a:solidFill>
          <a:ln xmlns:a="http://schemas.openxmlformats.org/drawingml/2006/main" w="9525">
            <a:solidFill>
              <a:srgbClr val="6F101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8470F6-2523-4957-8709-71BF84A4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3425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67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FINAL PROJECT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884F36-B6B6-46E4-8046-21A88B67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609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5025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ORACLE</a:t>
            </a:r>
          </a:p>
          <a:p xmlns:a="http://schemas.openxmlformats.org/drawingml/2006/main">
            <a:pPr algn="l">
              <a:lnSpc>
                <a:spcPct val="86000"/>
              </a:lnSpc>
              <a:buNone/>
              <a:defRPr sz="5025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RED LABS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4FDD8F-3466-4CF2-A02B-AAB50B9C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A secure engagement request and management platform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5BA315-4931-4B06-845A-46B85AEE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44577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3202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BD36C5-22A0-4868-8A6E-32DA0E48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Node.js · Express · MySQL · Vanilla JavaScript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8094A6-F195-487D-BEC8-8E0550A4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007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85818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58189"/>
                </a:solidFill>
                <a:latin typeface="Arial"/>
                <a:ea typeface="Arial"/>
                <a:cs typeface="Arial"/>
              </a:rPr>
              <a:t>Academic implementation · Final delivery</a:t>
            </a:r>
          </a:p>
        </p:txBody>
      </p:sp>
    </p:spTree>
    <p:extLst>
      <p:ext uri="{BB962C8B-B14F-4D97-AF65-F5344CB8AC3E}">
        <p14:creationId xmlns:p14="http://schemas.microsoft.com/office/powerpoint/2010/main" val="21452612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5B1796-3399-4073-B930-E7BD59D5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CA2DBC-9472-46E4-ADB5-CD34DA2E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600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A49FB9-34D3-4728-8A8E-3CC71CB7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5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8581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5818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7F7955-1A4E-4D8F-A242-25576405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From ambitious proposal to a finished academic product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C094BA-1563-4C44-9D78-00A71F30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The original vision is preserved, while the implemented scope centers on one complete full-stack transaction.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21FA0D-B10B-421A-8695-CB21954E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3067050" cy="3714750"/>
          </a:xfrm>
          <a:prstGeom xmlns:a="http://schemas.openxmlformats.org/drawingml/2006/main" prst="roundRect">
            <a:avLst>
              <a:gd name="adj" fmla="val 6832"/>
            </a:avLst>
          </a:prstGeom>
          <a:solidFill xmlns:a="http://schemas.openxmlformats.org/drawingml/2006/main">
            <a:srgbClr val="141418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2EFD9C-8D32-4E1F-B98E-9EE1DAB9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242A"/>
          </a:solidFill>
          <a:ln xmlns:a="http://schemas.openxmlformats.org/drawingml/2006/main" w="9525">
            <a:solidFill>
              <a:srgbClr val="2424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1C2F71-B440-4F05-9F2D-6A19A35D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9825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7B2AA"/>
                </a:solidFill>
                <a:latin typeface="Arial"/>
                <a:ea typeface="Arial"/>
                <a:cs typeface="Arial"/>
              </a:rPr>
              <a:t>ORIGINAL VISION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AEEF40-D337-4C03-BA8C-1C81B399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2571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Offensive security services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Live attack activity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Payments and subscriptions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Reports, findings, retesting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Encrypted communications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F5A666-947D-4427-8E21-EBF77BA3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6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85818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58189"/>
                </a:solidFill>
                <a:latin typeface="Arial"/>
                <a:ea typeface="Arial"/>
                <a:cs typeface="Arial"/>
              </a:rPr>
              <a:t>RECORDED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44FECE-EA2D-4AA8-A35B-41B27C67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14550"/>
            <a:ext cx="3067050" cy="3714750"/>
          </a:xfrm>
          <a:prstGeom xmlns:a="http://schemas.openxmlformats.org/drawingml/2006/main" prst="roundRect">
            <a:avLst>
              <a:gd name="adj" fmla="val 6832"/>
            </a:avLst>
          </a:prstGeom>
          <a:solidFill xmlns:a="http://schemas.openxmlformats.org/drawingml/2006/main">
            <a:srgbClr val="1B1518"/>
          </a:solidFill>
          <a:ln xmlns:a="http://schemas.openxmlformats.org/drawingml/2006/main" w="9525">
            <a:solidFill>
              <a:srgbClr val="E3202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7B3A1C-7D3E-4EFB-A8C4-C56549A8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4315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1017"/>
          </a:solidFill>
          <a:ln xmlns:a="http://schemas.openxmlformats.org/drawingml/2006/main" w="9525">
            <a:solidFill>
              <a:srgbClr val="6F101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0BEBCC-C5C9-4E07-9960-49CBB185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09825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IMPLEMENTED 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74FF6A-356E-4DE4-AD2B-100C626A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76550"/>
            <a:ext cx="2571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Account registration and login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Service catalogue from MySQL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Engagement request with PDF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Client and admin dashboards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Status, invoice, inquiry, and CRUD flows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24B09C-7F61-4830-A7FC-A655F975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36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8C78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8C78E"/>
                </a:solidFill>
                <a:latin typeface="Arial"/>
                <a:ea typeface="Arial"/>
                <a:cs typeface="Arial"/>
              </a:rPr>
              <a:t>SHIPPED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D6703D-A1A8-4194-B992-79B827CA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14550"/>
            <a:ext cx="3067050" cy="3714750"/>
          </a:xfrm>
          <a:prstGeom xmlns:a="http://schemas.openxmlformats.org/drawingml/2006/main" prst="roundRect">
            <a:avLst>
              <a:gd name="adj" fmla="val 6832"/>
            </a:avLst>
          </a:prstGeom>
          <a:solidFill xmlns:a="http://schemas.openxmlformats.org/drawingml/2006/main">
            <a:srgbClr val="141418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58DC71-75A7-45C8-9B52-147242FE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4315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242A"/>
          </a:solidFill>
          <a:ln xmlns:a="http://schemas.openxmlformats.org/drawingml/2006/main" w="9525">
            <a:solidFill>
              <a:srgbClr val="2424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637DEA-1905-4041-91C6-6A0A42BD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09825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7B2AA"/>
                </a:solidFill>
                <a:latin typeface="Arial"/>
                <a:ea typeface="Arial"/>
                <a:cs typeface="Arial"/>
              </a:rPr>
              <a:t>FUTURE ENHANCEMENTS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1C15B8-6C75-4AAF-8256-02412760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76550"/>
            <a:ext cx="2571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Stripe payments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Attack automation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Finding and report management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Email verification and recovery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Multi-user organizations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511D4E-993A-4B16-9927-5FC6E000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36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85818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58189"/>
                </a:solidFill>
                <a:latin typeface="Arial"/>
                <a:ea typeface="Arial"/>
                <a:cs typeface="Arial"/>
              </a:rPr>
              <a:t>DEFERRED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6C9F8D-127C-40EA-828A-4F332AB5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85818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58189"/>
                </a:solidFill>
                <a:latin typeface="Arial"/>
                <a:ea typeface="Arial"/>
                <a:cs typeface="Arial"/>
              </a:rPr>
              <a:t>Oracle Red Labs · Academic full-stack application</a:t>
            </a:r>
          </a:p>
        </p:txBody>
      </p:sp>
    </p:spTree>
    <p:extLst>
      <p:ext uri="{BB962C8B-B14F-4D97-AF65-F5344CB8AC3E}">
        <p14:creationId xmlns:p14="http://schemas.microsoft.com/office/powerpoint/2010/main" val="15471616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9C4A04-D8D0-49C1-ACCA-C448DA43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USER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9BEFC6-04DF-4529-B361-1BBF0DD7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600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CB8C54-9C0C-4298-9512-A4CD278E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5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8581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5818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1230B9-5851-4945-8703-452A7F03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One transaction proves the full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4DAD78-50DB-4864-871F-00C2A6AC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Every major layer participates in a traceable, role-controlled engagement lifecycle.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994DE8-0125-405C-91D8-F3F3B497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581150" cy="2362200"/>
          </a:xfrm>
          <a:prstGeom xmlns:a="http://schemas.openxmlformats.org/drawingml/2006/main" prst="roundRect">
            <a:avLst>
              <a:gd name="adj" fmla="val 12048"/>
            </a:avLst>
          </a:prstGeom>
          <a:solidFill xmlns:a="http://schemas.openxmlformats.org/drawingml/2006/main">
            <a:srgbClr val="141418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A54936-73B9-4A9C-9A7F-6FA398E0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EE784E-BFC9-4C79-9868-1A2D1A80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Register / login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FD383A-1EC5-44A4-A572-764C9D22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Server-side session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254F0E-CBBA-43D9-90A8-EBB5E39C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3528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E320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3202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A6952B-A04F-48D1-9C62-1F5EE593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28875"/>
            <a:ext cx="1581150" cy="2362200"/>
          </a:xfrm>
          <a:prstGeom xmlns:a="http://schemas.openxmlformats.org/drawingml/2006/main" prst="roundRect">
            <a:avLst>
              <a:gd name="adj" fmla="val 12048"/>
            </a:avLst>
          </a:prstGeom>
          <a:solidFill xmlns:a="http://schemas.openxmlformats.org/drawingml/2006/main">
            <a:srgbClr val="141418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FB8512-57AA-4123-84E8-3BD7F6F4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6289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61B5B9-7C88-4D2A-8EAE-2DBDF52B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1432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Choose service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812273-856E-4B0C-8A55-A233A558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962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Active catalogue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A07553-F05F-4256-9244-D9F9BA4F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3528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E320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3202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32F9F6-D988-47DD-9359-753052E0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28875"/>
            <a:ext cx="1581150" cy="2362200"/>
          </a:xfrm>
          <a:prstGeom xmlns:a="http://schemas.openxmlformats.org/drawingml/2006/main" prst="roundRect">
            <a:avLst>
              <a:gd name="adj" fmla="val 12048"/>
            </a:avLst>
          </a:prstGeom>
          <a:solidFill xmlns:a="http://schemas.openxmlformats.org/drawingml/2006/main">
            <a:srgbClr val="1B1518"/>
          </a:solidFill>
          <a:ln xmlns:a="http://schemas.openxmlformats.org/drawingml/2006/main" w="9525">
            <a:solidFill>
              <a:srgbClr val="E3202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7216E0-1E8A-4542-AD91-4AC6405C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289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8B5104-064C-4725-BCFC-7EEE1FB4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Submit request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822243-F953-44C9-A8D6-453CB395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62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Scope, targets, PDF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9ED094-6CC9-4D49-A899-9B5F243D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3528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E320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3202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3EB11C-A89D-40B4-88B1-C50A29FA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28875"/>
            <a:ext cx="1581150" cy="2362200"/>
          </a:xfrm>
          <a:prstGeom xmlns:a="http://schemas.openxmlformats.org/drawingml/2006/main" prst="roundRect">
            <a:avLst>
              <a:gd name="adj" fmla="val 12048"/>
            </a:avLst>
          </a:prstGeom>
          <a:solidFill xmlns:a="http://schemas.openxmlformats.org/drawingml/2006/main">
            <a:srgbClr val="1B1518"/>
          </a:solidFill>
          <a:ln xmlns:a="http://schemas.openxmlformats.org/drawingml/2006/main" w="9525">
            <a:solidFill>
              <a:srgbClr val="E3202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82ACEB-5179-4B4C-A024-6A1EE5F8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289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CDA9D4-B3A7-47B2-B303-6463F8CB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432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Persist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B30FD9-7C53-4D30-B999-CDD01A20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62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One SQL transaction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0F0644-A513-42B5-8A0C-BB74E9F2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3528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E320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3202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5331DB-95E3-4FE2-A6CB-25262162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28875"/>
            <a:ext cx="1581150" cy="2362200"/>
          </a:xfrm>
          <a:prstGeom xmlns:a="http://schemas.openxmlformats.org/drawingml/2006/main" prst="roundRect">
            <a:avLst>
              <a:gd name="adj" fmla="val 12048"/>
            </a:avLst>
          </a:prstGeom>
          <a:solidFill xmlns:a="http://schemas.openxmlformats.org/drawingml/2006/main">
            <a:srgbClr val="141418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3C247A-5E85-408F-89AF-45486CCC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289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1474FA-9040-4971-A2C3-D6348FBC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432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Admin review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2A8EBE-C1AE-4C9C-BC47-0808F638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62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Status + invoice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61F9C7-38E8-4426-A29A-23E47D7B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3528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E320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3202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689923-0229-4ECC-9AA9-73D23DA7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28875"/>
            <a:ext cx="1581150" cy="2362200"/>
          </a:xfrm>
          <a:prstGeom xmlns:a="http://schemas.openxmlformats.org/drawingml/2006/main" prst="roundRect">
            <a:avLst>
              <a:gd name="adj" fmla="val 12048"/>
            </a:avLst>
          </a:prstGeom>
          <a:solidFill xmlns:a="http://schemas.openxmlformats.org/drawingml/2006/main">
            <a:srgbClr val="141418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001BF4-3896-4D19-8F71-C94492D4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289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590CC7-9B11-4342-A99A-E6A37749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1432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Client tracks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DFE01C-3512-45D7-828C-860D2A5D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962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History and updates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5468AB-352F-41EA-833A-17482C63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8204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B1B20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BC7F6E-FACD-4B9F-91B0-C9C9E6F3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7210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Acceptance proof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B090B2-07C3-4018-96A7-51906655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340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user input → Express processing → MySQL storage → authorized retrieval → updated display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C0BAF0-283E-4182-8BDF-BCB99F6A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85818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58189"/>
                </a:solidFill>
                <a:latin typeface="Arial"/>
                <a:ea typeface="Arial"/>
                <a:cs typeface="Arial"/>
              </a:rPr>
              <a:t>Oracle Red Labs · Academic full-stack application</a:t>
            </a:r>
          </a:p>
        </p:txBody>
      </p:sp>
    </p:spTree>
    <p:extLst>
      <p:ext uri="{BB962C8B-B14F-4D97-AF65-F5344CB8AC3E}">
        <p14:creationId xmlns:p14="http://schemas.microsoft.com/office/powerpoint/2010/main" val="13289021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EBBD03E-3439-4B9E-8D53-5177E299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INFORMATION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7874C1-02BD-42F4-8A24-5B3384F9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600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FE1516-B4D3-44C0-ABAD-4807F09C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5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8581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5818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9D6228-3E76-489C-B671-7E36DC4A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Public, client, and administrator areas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FB0F00-6EB0-47FE-861A-F3BC8BE8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Navigation keeps discovery open while protecting personal and operational records by role.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0867B-F712-46CC-B43F-F5A87ADF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3257550" cy="3857625"/>
          </a:xfrm>
          <a:prstGeom xmlns:a="http://schemas.openxmlformats.org/drawingml/2006/main" prst="roundRect">
            <a:avLst>
              <a:gd name="adj" fmla="val 6433"/>
            </a:avLst>
          </a:prstGeom>
          <a:solidFill xmlns:a="http://schemas.openxmlformats.org/drawingml/2006/main">
            <a:srgbClr val="141418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CE0935-C399-46BE-A911-4996241E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336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7B2AA"/>
                </a:solidFill>
                <a:latin typeface="Arial"/>
                <a:ea typeface="Arial"/>
                <a:cs typeface="Arial"/>
              </a:rPr>
              <a:t>PUBLIC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8BA1C8-8CA0-4537-A269-90595990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280035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24242A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D41549-C951-45B6-9BCF-649C8677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43225"/>
            <a:ext cx="252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Home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0569E9-EA6F-4F70-ABA3-4A4C5005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280035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1B1B20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29769B-0CE4-475A-ABB1-C37D0E5F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00425"/>
            <a:ext cx="252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Services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1CC658-52D6-464E-99B8-50E76DBB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280035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1B1B20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055D1D-3F86-43C9-A8D7-81EEB1D8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57625"/>
            <a:ext cx="252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Who we serve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5DCF2F-E96E-4E6A-986E-ABF76445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280035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1B1B20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9FD1B6-6FDA-4E9B-9854-ED6A224C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14825"/>
            <a:ext cx="252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Vault resources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CAF168-2EC3-44A3-BDED-A819AF4E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280035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1B1B20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D8100D-CD92-46C7-B0C0-437E9AB5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72025"/>
            <a:ext cx="252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Inquiry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01AF43-6BAC-4802-BBB9-E5A5FCE1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280035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1B1B20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BE2EC4-FDEB-4237-8C72-D5BBAD0F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29225"/>
            <a:ext cx="252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Register / login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AA878C-BEA9-4E58-992D-EC40A221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076450"/>
            <a:ext cx="3257550" cy="3857625"/>
          </a:xfrm>
          <a:prstGeom xmlns:a="http://schemas.openxmlformats.org/drawingml/2006/main" prst="roundRect">
            <a:avLst>
              <a:gd name="adj" fmla="val 6433"/>
            </a:avLst>
          </a:prstGeom>
          <a:solidFill xmlns:a="http://schemas.openxmlformats.org/drawingml/2006/main">
            <a:srgbClr val="1B1518"/>
          </a:solidFill>
          <a:ln xmlns:a="http://schemas.openxmlformats.org/drawingml/2006/main" w="9525">
            <a:solidFill>
              <a:srgbClr val="E3202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ED2A9B-24A1-4FFD-A40D-5981711F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336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CLIENT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31DA6C-C741-4871-94C5-733A86B0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57500"/>
            <a:ext cx="280035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24242A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9D92F3-87BC-4293-A8C5-EF2EBAF1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943225"/>
            <a:ext cx="252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Engagement booking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EC5151-64D2-44C2-8B46-3DB797D6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14700"/>
            <a:ext cx="280035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1B1B20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83AAF4-A89E-45BE-9BBC-0C751B87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400425"/>
            <a:ext cx="252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My dashboard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FD987B-D18F-4001-8E84-4108F6DD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71900"/>
            <a:ext cx="280035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1B1B20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F88626-D169-45F4-91ED-B9A45AE0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857625"/>
            <a:ext cx="252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Engagement detail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0A7E07-2086-4DCC-B388-5B544937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29100"/>
            <a:ext cx="280035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1B1B20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658127-A310-4AAC-8B55-24296072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314825"/>
            <a:ext cx="252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Status history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A845C5-8026-46AB-832F-34390490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86300"/>
            <a:ext cx="280035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1B1B20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8C8BF4-0F6A-4E82-AC46-53971D4F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772025"/>
            <a:ext cx="252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Cancel eligible request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28BD3A-ACC2-4780-B796-CDBDBC44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143500"/>
            <a:ext cx="280035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1B1B20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09AF81-67AC-4D36-A923-9578613F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5229225"/>
            <a:ext cx="252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Logout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E3E2B5-A1A9-4306-9A2F-C2E03227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76450"/>
            <a:ext cx="3257550" cy="3857625"/>
          </a:xfrm>
          <a:prstGeom xmlns:a="http://schemas.openxmlformats.org/drawingml/2006/main" prst="roundRect">
            <a:avLst>
              <a:gd name="adj" fmla="val 6433"/>
            </a:avLst>
          </a:prstGeom>
          <a:solidFill xmlns:a="http://schemas.openxmlformats.org/drawingml/2006/main">
            <a:srgbClr val="141418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788394-2429-42F0-9063-78E707B8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336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48C78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8C78E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416800-6D2D-4689-8C29-AF52D279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57500"/>
            <a:ext cx="280035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24242A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A89363-B801-45FC-8BA6-F31B98A5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43225"/>
            <a:ext cx="252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Admin console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5B2A7D-231C-440B-B7B6-69BB8814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14700"/>
            <a:ext cx="280035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1B1B20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3E7CC3C-F6E3-4F6E-B8C7-C8F8D75E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00425"/>
            <a:ext cx="252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Service CRUD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D3B9E2-31C4-4219-8EFB-A2158DF1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71900"/>
            <a:ext cx="280035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1B1B20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71A578-74F5-4D29-864F-71CD1BA1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57625"/>
            <a:ext cx="252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Resource CRUD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9EDEDEB-198F-4F56-BD1C-D334F1D6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29100"/>
            <a:ext cx="280035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1B1B20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05D1A6-BF39-46F6-999B-26347706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14825"/>
            <a:ext cx="252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Inquiry review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F92C6FC-8E7D-43FC-8029-0ECE6207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86300"/>
            <a:ext cx="280035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1B1B20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82D9D07-0804-4AAD-9854-5BC5B4AC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72025"/>
            <a:ext cx="252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Engagement status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2BB0DB-8718-474A-8009-6581EEC2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143500"/>
            <a:ext cx="280035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1B1B20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26C6302-F4D2-45C7-86EF-7DDA8535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229225"/>
            <a:ext cx="252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Invoice + PDF access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81E3EC1-22A4-42A4-AA4E-1568C601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85818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58189"/>
                </a:solidFill>
                <a:latin typeface="Arial"/>
                <a:ea typeface="Arial"/>
                <a:cs typeface="Arial"/>
              </a:rPr>
              <a:t>Milestone 2 sitemap and wireframes are included as Markdown and PDF artifacts</a:t>
            </a:r>
          </a:p>
        </p:txBody>
      </p:sp>
    </p:spTree>
    <p:extLst>
      <p:ext uri="{BB962C8B-B14F-4D97-AF65-F5344CB8AC3E}">
        <p14:creationId xmlns:p14="http://schemas.microsoft.com/office/powerpoint/2010/main" val="10129928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2221CD-A06D-4294-80A8-EEB85AF1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E9A426-209F-4263-A514-1B02D177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600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FBC6D4-158A-464E-8CC2-8FA8F51D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5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8581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5818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526A96-7438-480D-8048-49C1A438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Same-origin full-stack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F3B807-541D-40F6-AB72-34A9E228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A small modular Express application serves the existing interface and a documented JSON API.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8703A-9142-4813-8707-F73834B7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24075"/>
            <a:ext cx="809625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1B1B20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F46EA4-7AC4-4852-A781-C528112B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955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C32869-2807-4404-BFA3-A8A7ADBC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14575"/>
            <a:ext cx="567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Semantic HTML · CSS · Plain JavaScript · fetch · FormData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FD9B61-AFB2-4283-A584-232185CD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14625"/>
            <a:ext cx="419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E320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3202E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A22E1B-D31F-4816-8AC5-B73253A4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809625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1B1518"/>
          </a:solidFill>
          <a:ln xmlns:a="http://schemas.openxmlformats.org/drawingml/2006/main" w="9525">
            <a:solidFill>
              <a:srgbClr val="E3202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23F0AB-E896-4AFE-9423-AB9BB921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385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EXPRESS 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04D930-BB63-441B-A59B-6430CE3B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57550"/>
            <a:ext cx="567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Routes · validation · sessions · CSRF · authorization · error handling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50B23B-7C7B-4EBB-8237-56A4DD98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57600"/>
            <a:ext cx="419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E320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3202E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D821C9-954B-4AFE-9030-22CD42F3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0025"/>
            <a:ext cx="809625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1B1B20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41132B-7BBD-476B-BCB3-FAB0FDBF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MYSQL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6E16F6-E500-4A53-8E04-0DC3EC21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200525"/>
            <a:ext cx="567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Parameterized SQL · transactions · relational constraints · audit history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1A1FB3-67F6-4B46-9911-C930011D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00575"/>
            <a:ext cx="419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E320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3202E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107417-2336-421D-A5D5-89229426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809625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1B1B20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91C179-A9CE-42B6-BDB8-C2DD708C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244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PROTECTED FILES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DE738E-3CA0-4DB1-B3E3-E95225B7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143500"/>
            <a:ext cx="567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8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Randomized PDF filenames · signature checks · SHA-256 metadata · admin-only download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BDBB14-D44F-45A8-813C-9E01DCE8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24075"/>
            <a:ext cx="2057400" cy="3552825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141418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77EF99-6E14-4CC8-8458-754F324D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3622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Runtime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505EF4-ACA9-4911-B4E0-7239D742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19400"/>
            <a:ext cx="152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Node.js 24 LTS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Express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mysql2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bcryptjs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multer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helmet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E56451-ADFD-4A33-BCC6-4B36D2F6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85818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58189"/>
                </a:solidFill>
                <a:latin typeface="Arial"/>
                <a:ea typeface="Arial"/>
                <a:cs typeface="Arial"/>
              </a:rPr>
              <a:t>Oracle Red Labs · Academic full-stack application</a:t>
            </a:r>
          </a:p>
        </p:txBody>
      </p:sp>
    </p:spTree>
    <p:extLst>
      <p:ext uri="{BB962C8B-B14F-4D97-AF65-F5344CB8AC3E}">
        <p14:creationId xmlns:p14="http://schemas.microsoft.com/office/powerpoint/2010/main" val="11582795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C2E744-5422-4A61-AB7F-D767A426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DATABASE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9D6379-35BD-42B8-A14E-F76C8289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600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6B4AA4-897E-4E72-B441-27FC24F8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5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8581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5818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F68421-0914-450E-8BCC-B1E024B5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The database preserves ownership and history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A051EC-6E13-487A-8C24-6DEBB6A0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Ten InnoDB tables use explicit keys, constraints, price snapshots, and UTC timestamps.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D1D493-538D-444C-B2E3-FABE40A0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17145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1B1B20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76BFD3-DAD4-43DC-838D-28BA756D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USERS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3F6373-2787-4188-AFFF-5E459EC5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17145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1B1B20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2801C7-CD2F-4C61-95A6-A3921FD4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SERVICES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3C8B4A-5942-40A5-9BC6-B2BD1686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81300"/>
            <a:ext cx="2238375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1B1518"/>
          </a:solidFill>
          <a:ln xmlns:a="http://schemas.openxmlformats.org/drawingml/2006/main" w="9525">
            <a:solidFill>
              <a:srgbClr val="E3202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98EC76-A526-4DB9-8458-64A30130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52750"/>
            <a:ext cx="2009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ENGAGEMENTS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34D9FD-2ABB-44B3-8B7C-5A29C747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00250"/>
            <a:ext cx="18097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B1B20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11C82D-E20B-4C11-ACDA-7DE3E3B7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717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TARGETS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63B22D-C287-43BB-A49B-AFE68096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24175"/>
            <a:ext cx="18097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B1B20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9F2894-2D86-4F02-A212-CD886412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9562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AUTHORIZATION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F323BC-6570-45F0-9D2B-FBF2DECA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48100"/>
            <a:ext cx="18097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B1B20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267DFB-2ED8-44B1-9C8E-EF4343BB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195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INVOICES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D1E178-36D4-4E8A-A7FD-D57D21A1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72025"/>
            <a:ext cx="18097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B1B20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294AFF-E385-4FF7-910F-B7135ED2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94347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STATUS HISTORY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5D642D-40F9-45BD-847D-1CA205D4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81300"/>
            <a:ext cx="19050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1B20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4BE9B3-6907-4A9F-910B-7697A597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9527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INQUIRIES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A17265-0D6A-4ED6-BC9A-7AA60890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114800"/>
            <a:ext cx="19050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1B20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D1C61A-9493-4FA8-88AA-AF33E23D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2862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RESOURCES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7AD85D-3092-446D-9404-343064D1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62200" y="2581275"/>
            <a:ext cx="120015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202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5A08E4-71AA-419E-B93A-D4830F9F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362200" y="3267075"/>
            <a:ext cx="120015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202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327941-7525-40FC-AA89-6BE68F6C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800725" y="2343150"/>
            <a:ext cx="1285875" cy="942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202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E9EA49-C136-429E-B644-8EE6743B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00725" y="3286125"/>
            <a:ext cx="128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202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8E69EE-ACA1-4D3C-8F39-12008683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00725" y="3286125"/>
            <a:ext cx="1285875" cy="904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202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0FA0F7-F21B-4924-A6D3-2327C78F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00725" y="3286125"/>
            <a:ext cx="1285875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202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F8B474-8BF3-4089-9316-EA8DDFF0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896350" y="3181350"/>
            <a:ext cx="647700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343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02DC7B-C5DB-491C-83BC-C74E4C5A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10858500" cy="523875"/>
          </a:xfrm>
          <a:prstGeom xmlns:a="http://schemas.openxmlformats.org/drawingml/2006/main" prst="roundRect">
            <a:avLst>
              <a:gd name="adj" fmla="val 25455"/>
            </a:avLst>
          </a:prstGeom>
          <a:solidFill xmlns:a="http://schemas.openxmlformats.org/drawingml/2006/main">
            <a:srgbClr val="24242A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0DDCB1-E87A-44E0-970F-5F985A47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91175"/>
            <a:ext cx="1032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1 engagement → many targets · 1 authorization PDF · 1 invoice · many audit entries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9B9242-FA26-4163-9E76-9E0A06E0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85818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58189"/>
                </a:solidFill>
                <a:latin typeface="Arial"/>
                <a:ea typeface="Arial"/>
                <a:cs typeface="Arial"/>
              </a:rPr>
              <a:t>Schema target: MySQL 8.4 LTS · Validation environment: MySQL 8.0.42</a:t>
            </a:r>
          </a:p>
        </p:txBody>
      </p:sp>
    </p:spTree>
    <p:extLst>
      <p:ext uri="{BB962C8B-B14F-4D97-AF65-F5344CB8AC3E}">
        <p14:creationId xmlns:p14="http://schemas.microsoft.com/office/powerpoint/2010/main" val="11785043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5A1A09-4831-41FE-A9EA-C70F49F1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BACKEND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B62EA5-0C61-4347-A4AB-B40F7CB3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600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30F944-C444-4CF5-A31A-A488AC66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5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8581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5818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F290C-076D-4EE1-83E2-3FEE5022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Security is enforced on the server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D0D3E-397D-4C36-AB09-0903E1D8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The interface helps users, but Express and MySQL decide what is valid and who may access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5D4A89-9378-4878-AEBD-FF1740C3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257550" cy="1314450"/>
          </a:xfrm>
          <a:prstGeom xmlns:a="http://schemas.openxmlformats.org/drawingml/2006/main" prst="roundRect">
            <a:avLst>
              <a:gd name="adj" fmla="val 13768"/>
            </a:avLst>
          </a:prstGeom>
          <a:solidFill xmlns:a="http://schemas.openxmlformats.org/drawingml/2006/main">
            <a:srgbClr val="141418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BD053C-F88F-47F6-862E-8F4AFEE7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526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PASSWORDS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7B2F28-8675-4DFE-ABC5-515E3040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33675"/>
            <a:ext cx="2809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bcryptjs hashes only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434D29-BF4C-4FFE-A7B8-6E30FC08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43125"/>
            <a:ext cx="3257550" cy="1314450"/>
          </a:xfrm>
          <a:prstGeom xmlns:a="http://schemas.openxmlformats.org/drawingml/2006/main" prst="roundRect">
            <a:avLst>
              <a:gd name="adj" fmla="val 13768"/>
            </a:avLst>
          </a:prstGeom>
          <a:solidFill xmlns:a="http://schemas.openxmlformats.org/drawingml/2006/main">
            <a:srgbClr val="141418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895804-0F99-4629-AFB4-F37853F0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526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SESSIONS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A7C112-5DBF-4EB1-AAC0-2DEA09E9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33675"/>
            <a:ext cx="2809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MySQL-backed, secure cookie settings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7CEF0B-7939-42C4-9F45-13CD1A00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43125"/>
            <a:ext cx="3257550" cy="1314450"/>
          </a:xfrm>
          <a:prstGeom xmlns:a="http://schemas.openxmlformats.org/drawingml/2006/main" prst="roundRect">
            <a:avLst>
              <a:gd name="adj" fmla="val 13768"/>
            </a:avLst>
          </a:prstGeom>
          <a:solidFill xmlns:a="http://schemas.openxmlformats.org/drawingml/2006/main">
            <a:srgbClr val="141418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AEFE19-1BAA-4E08-BABF-FBDAA0BB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526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REQUESTS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656616-7A11-41EC-876A-C32ECBD6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33675"/>
            <a:ext cx="2809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CSRF tokens and rate limits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FEE70F-F4E3-4444-BEB2-66ED1CC4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3257550" cy="1314450"/>
          </a:xfrm>
          <a:prstGeom xmlns:a="http://schemas.openxmlformats.org/drawingml/2006/main" prst="roundRect">
            <a:avLst>
              <a:gd name="adj" fmla="val 13768"/>
            </a:avLst>
          </a:prstGeom>
          <a:solidFill xmlns:a="http://schemas.openxmlformats.org/drawingml/2006/main">
            <a:srgbClr val="141418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3B9F41-2759-4929-A828-5C34F697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719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ACCESS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DAD479-CC98-4F31-9076-A33A2851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52925"/>
            <a:ext cx="2809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Role checks and record ownership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C8B4D7-06EB-48E1-ADCF-F6B5AE79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62375"/>
            <a:ext cx="3257550" cy="1314450"/>
          </a:xfrm>
          <a:prstGeom xmlns:a="http://schemas.openxmlformats.org/drawingml/2006/main" prst="roundRect">
            <a:avLst>
              <a:gd name="adj" fmla="val 13768"/>
            </a:avLst>
          </a:prstGeom>
          <a:solidFill xmlns:a="http://schemas.openxmlformats.org/drawingml/2006/main">
            <a:srgbClr val="141418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076B52-B0F3-4CC6-A36E-17B93B80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719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SQL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B3C1C1-D0C2-4CC6-B8EF-0CBCBF9D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352925"/>
            <a:ext cx="2809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Parameterized queries and transactions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2505CA-EDAE-4689-A15A-FC59C996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62375"/>
            <a:ext cx="3257550" cy="1314450"/>
          </a:xfrm>
          <a:prstGeom xmlns:a="http://schemas.openxmlformats.org/drawingml/2006/main" prst="roundRect">
            <a:avLst>
              <a:gd name="adj" fmla="val 13768"/>
            </a:avLst>
          </a:prstGeom>
          <a:solidFill xmlns:a="http://schemas.openxmlformats.org/drawingml/2006/main">
            <a:srgbClr val="1B1518"/>
          </a:solidFill>
          <a:ln xmlns:a="http://schemas.openxmlformats.org/drawingml/2006/main" w="9525">
            <a:solidFill>
              <a:srgbClr val="E3202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0B7FC4-D3BF-44EF-B564-9BC722CF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719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UPLOADS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86DB38-0CBF-46C5-9C52-D3A403B7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52925"/>
            <a:ext cx="2809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PDF MIME, signature, size, and SHA-256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C65721-131C-4DC8-A4E4-92956F44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4203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24242A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0A0846-A01E-41E5-B6A9-D15D17CE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9963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48C78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8C78E"/>
                </a:solidFill>
                <a:latin typeface="Arial"/>
                <a:ea typeface="Arial"/>
                <a:cs typeface="Arial"/>
              </a:rPr>
              <a:t>Multi-table booking and status updates commit together—or roll back together.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32368C-71AC-4F84-A24D-E91A6482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85818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58189"/>
                </a:solidFill>
                <a:latin typeface="Arial"/>
                <a:ea typeface="Arial"/>
                <a:cs typeface="Arial"/>
              </a:rPr>
              <a:t>Oracle Red Labs · Academic full-stack application</a:t>
            </a:r>
          </a:p>
        </p:txBody>
      </p:sp>
    </p:spTree>
    <p:extLst>
      <p:ext uri="{BB962C8B-B14F-4D97-AF65-F5344CB8AC3E}">
        <p14:creationId xmlns:p14="http://schemas.microsoft.com/office/powerpoint/2010/main" val="16030058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756EA2-F19C-4202-9854-1BC31F41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FRONTEND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7A2A24-AAA6-4C4D-8162-20AF827E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600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54FAA8-5C1D-4E1B-89AC-2F3EB2A0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5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8581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5818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5556F6-A9E7-4D2E-8177-4453874F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The existing visual system now runs on real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72C48A-0AD6-41F3-B448-D0B40B1C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Build-free and framework-free, with authenticated application states across the full workflow.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1b9622405842e5"/>
          <a:srcRect xmlns:a="http://schemas.openxmlformats.org/drawingml/2006/main" l="7169" t="0" r="71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43750" y="2047875"/>
            <a:ext cx="4438650" cy="3886200"/>
          </a:xfrm>
          <a:prstGeom xmlns:a="http://schemas.openxmlformats.org/drawingml/2006/main" prst="roundRect">
            <a:avLst>
              <a:gd name="adj" fmla="val 539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F0A184-B1E0-473D-9569-D246298A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35AB72-B408-48C9-B795-E5B1C312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Shared API helper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0FFD5A-FBD5-4FD4-9E11-E2527CE8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09825"/>
            <a:ext cx="5143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CSRF, JSON, authentication, field errors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DB1AF2-772B-4429-934F-60CCBCFC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00150" y="291465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D945D1-8793-4A80-8D30-C26B39EE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90D0E4-DA5C-4668-B0D0-7EB1EEDB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289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Engagement wizard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EB9691-FE34-423F-A20D-AF52A7A5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62325"/>
            <a:ext cx="5143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Service data, validation, FormData PDF upload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C1EB02-C171-4E27-9691-DDC6E18C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00150" y="386715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BB590E-50B2-4771-8BB7-035DA6C8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386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03E433-C698-4B24-A9C1-6CE95D75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814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Client views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7AE707-D2ED-45F3-AAED-5B7E5212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14825"/>
            <a:ext cx="5143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Dashboard, details, history, cancellation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C24210-6FD3-467E-A578-5B517B0F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00150" y="481965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F70337-212A-45D2-A630-4DF63FE2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91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4CB185-313B-48F8-9DAA-D2B4666C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339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Admin console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8B5B1B-BEFF-478B-91DC-DDE5E37A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67325"/>
            <a:ext cx="5143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CRUD forms, inquiry review, status and invoice updates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B44831-5798-43DB-8E3C-40E1B7C2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85818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58189"/>
                </a:solidFill>
                <a:latin typeface="Arial"/>
                <a:ea typeface="Arial"/>
                <a:cs typeface="Arial"/>
              </a:rPr>
              <a:t>Semantic HTML · Accessible labels · Loading, empty, validation, success, and error states</a:t>
            </a:r>
          </a:p>
        </p:txBody>
      </p:sp>
    </p:spTree>
    <p:extLst>
      <p:ext uri="{BB962C8B-B14F-4D97-AF65-F5344CB8AC3E}">
        <p14:creationId xmlns:p14="http://schemas.microsoft.com/office/powerpoint/2010/main" val="19301933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83A263-AF1E-4531-B601-FB7A9291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CRUD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69B85F-B64E-4D3A-BE98-7EF9F5DF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600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EBB516-AD7F-43C6-A178-68E08828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5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8581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58189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9C6B18-3C3E-4868-A6EE-EF4FC34B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Every database operation has a visible demonstration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8C3236-5538-4C94-BDED-B275001C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Transactional records are retained; safe catalogue and inquiry records provide clear delete examples.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704850" y="2095500"/>
          <a:ext xmlns:a="http://schemas.openxmlformats.org/drawingml/2006/main" cx="107823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533900"/>
                <a:gridCol w="4533900"/>
              </a:tblGrid>
              <a:tr h="571500"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2EEE7"/>
                          </a:solidFill>
                          <a:latin typeface="Arial"/>
                          <a:ea typeface="Arial"/>
                          <a:cs typeface="Arial"/>
                        </a:rPr>
                        <a:t>OPERATION</a:t>
                      </a:r>
                    </a:p>
                  </a:txBody>
                  <a:tcPr marL="91440" marR="91440" marT="45720" marB="45720" anchor="ctr">
                    <a:solidFill>
                      <a:srgbClr val="E3202E"/>
                    </a:solidFill>
                  </a:tcPr>
                </a:tc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2EEE7"/>
                          </a:solidFill>
                          <a:latin typeface="Arial"/>
                          <a:ea typeface="Arial"/>
                          <a:cs typeface="Arial"/>
                        </a:rPr>
                        <a:t>PRIMARY DEMONSTRATION</a:t>
                      </a:r>
                    </a:p>
                  </a:txBody>
                  <a:tcPr marL="91440" marR="91440" marT="45720" marB="45720" anchor="ctr">
                    <a:solidFill>
                      <a:srgbClr val="E3202E"/>
                    </a:solidFill>
                  </a:tcPr>
                </a:tc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2EEE7"/>
                          </a:solidFill>
                          <a:latin typeface="Arial"/>
                          <a:ea typeface="Arial"/>
                          <a:cs typeface="Arial"/>
                        </a:rPr>
                        <a:t>PERSISTENCE RULE</a:t>
                      </a:r>
                    </a:p>
                  </a:txBody>
                  <a:tcPr marL="91440" marR="91440" marT="45720" marB="45720" anchor="ctr">
                    <a:solidFill>
                      <a:srgbClr val="E3202E"/>
                    </a:solidFill>
                  </a:tcPr>
                </a:tc>
              </a:tr>
              <a:tr h="571500"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F2EEE7"/>
                          </a:solidFill>
                          <a:latin typeface="Arial"/>
                          <a:ea typeface="Arial"/>
                          <a:cs typeface="Arial"/>
                        </a:rPr>
                        <a:t>CREATE</a:t>
                      </a:r>
                    </a:p>
                  </a:txBody>
                  <a:tcPr marL="91440" marR="91440" marT="45720" marB="45720" anchor="ctr">
                    <a:solidFill>
                      <a:srgbClr val="141418"/>
                    </a:solidFill>
                  </a:tcPr>
                </a:tc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F2EEE7"/>
                          </a:solidFill>
                          <a:latin typeface="Arial"/>
                          <a:ea typeface="Arial"/>
                          <a:cs typeface="Arial"/>
                        </a:rPr>
                        <a:t>Register · submit inquiry · book engagement · add service/resource</a:t>
                      </a:r>
                    </a:p>
                  </a:txBody>
                  <a:tcPr marL="91440" marR="91440" marT="45720" marB="45720" anchor="ctr">
                    <a:solidFill>
                      <a:srgbClr val="141418"/>
                    </a:solidFill>
                  </a:tcPr>
                </a:tc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F2EEE7"/>
                          </a:solidFill>
                          <a:latin typeface="Arial"/>
                          <a:ea typeface="Arial"/>
                          <a:cs typeface="Arial"/>
                        </a:rPr>
                        <a:t>Committed to MySQL</a:t>
                      </a:r>
                    </a:p>
                  </a:txBody>
                  <a:tcPr marL="91440" marR="91440" marT="45720" marB="45720" anchor="ctr">
                    <a:solidFill>
                      <a:srgbClr val="141418"/>
                    </a:solidFill>
                  </a:tcPr>
                </a:tc>
              </a:tr>
              <a:tr h="571500"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F2EEE7"/>
                          </a:solidFill>
                          <a:latin typeface="Arial"/>
                          <a:ea typeface="Arial"/>
                          <a:cs typeface="Arial"/>
                        </a:rPr>
                        <a:t>READ</a:t>
                      </a:r>
                    </a:p>
                  </a:txBody>
                  <a:tcPr marL="91440" marR="91440" marT="45720" marB="45720" anchor="ctr">
                    <a:solidFill>
                      <a:srgbClr val="1B1B20"/>
                    </a:solidFill>
                  </a:tcPr>
                </a:tc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F2EEE7"/>
                          </a:solidFill>
                          <a:latin typeface="Arial"/>
                          <a:ea typeface="Arial"/>
                          <a:cs typeface="Arial"/>
                        </a:rPr>
                        <a:t>Catalogue · client dashboard · admin tables · engagement detail</a:t>
                      </a:r>
                    </a:p>
                  </a:txBody>
                  <a:tcPr marL="91440" marR="91440" marT="45720" marB="45720" anchor="ctr">
                    <a:solidFill>
                      <a:srgbClr val="1B1B20"/>
                    </a:solidFill>
                  </a:tcPr>
                </a:tc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F2EEE7"/>
                          </a:solidFill>
                          <a:latin typeface="Arial"/>
                          <a:ea typeface="Arial"/>
                          <a:cs typeface="Arial"/>
                        </a:rPr>
                        <a:t>Role and ownership filtered</a:t>
                      </a:r>
                    </a:p>
                  </a:txBody>
                  <a:tcPr marL="91440" marR="91440" marT="45720" marB="45720" anchor="ctr">
                    <a:solidFill>
                      <a:srgbClr val="1B1B20"/>
                    </a:solidFill>
                  </a:tcPr>
                </a:tc>
              </a:tr>
              <a:tr h="571500"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F2EEE7"/>
                          </a:solidFill>
                          <a:latin typeface="Arial"/>
                          <a:ea typeface="Arial"/>
                          <a:cs typeface="Arial"/>
                        </a:rPr>
                        <a:t>UPDATE</a:t>
                      </a:r>
                    </a:p>
                  </a:txBody>
                  <a:tcPr marL="91440" marR="91440" marT="45720" marB="45720" anchor="ctr">
                    <a:solidFill>
                      <a:srgbClr val="141418"/>
                    </a:solidFill>
                  </a:tcPr>
                </a:tc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F2EEE7"/>
                          </a:solidFill>
                          <a:latin typeface="Arial"/>
                          <a:ea typeface="Arial"/>
                          <a:cs typeface="Arial"/>
                        </a:rPr>
                        <a:t>Edit service/resource · change engagement, invoice, inquiry status</a:t>
                      </a:r>
                    </a:p>
                  </a:txBody>
                  <a:tcPr marL="91440" marR="91440" marT="45720" marB="45720" anchor="ctr">
                    <a:solidFill>
                      <a:srgbClr val="141418"/>
                    </a:solidFill>
                  </a:tcPr>
                </a:tc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F2EEE7"/>
                          </a:solidFill>
                          <a:latin typeface="Arial"/>
                          <a:ea typeface="Arial"/>
                          <a:cs typeface="Arial"/>
                        </a:rPr>
                        <a:t>Validated state transitions</a:t>
                      </a:r>
                    </a:p>
                  </a:txBody>
                  <a:tcPr marL="91440" marR="91440" marT="45720" marB="45720" anchor="ctr">
                    <a:solidFill>
                      <a:srgbClr val="141418"/>
                    </a:solidFill>
                  </a:tcPr>
                </a:tc>
              </a:tr>
              <a:tr h="571500"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F2EEE7"/>
                          </a:solidFill>
                          <a:latin typeface="Arial"/>
                          <a:ea typeface="Arial"/>
                          <a:cs typeface="Arial"/>
                        </a:rPr>
                        <a:t>DELETE</a:t>
                      </a:r>
                    </a:p>
                  </a:txBody>
                  <a:tcPr marL="91440" marR="91440" marT="45720" marB="45720" anchor="ctr">
                    <a:solidFill>
                      <a:srgbClr val="1B1B20"/>
                    </a:solidFill>
                  </a:tcPr>
                </a:tc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F2EEE7"/>
                          </a:solidFill>
                          <a:latin typeface="Arial"/>
                          <a:ea typeface="Arial"/>
                          <a:cs typeface="Arial"/>
                        </a:rPr>
                        <a:t>Delete unused service · resource · inquiry</a:t>
                      </a:r>
                    </a:p>
                  </a:txBody>
                  <a:tcPr marL="91440" marR="91440" marT="45720" marB="45720" anchor="ctr">
                    <a:solidFill>
                      <a:srgbClr val="1B1B20"/>
                    </a:solidFill>
                  </a:tcPr>
                </a:tc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F2EEE7"/>
                          </a:solidFill>
                          <a:latin typeface="Arial"/>
                          <a:ea typeface="Arial"/>
                          <a:cs typeface="Arial"/>
                        </a:rPr>
                        <a:t>Foreign keys return HTTP 409 when referenced</a:t>
                      </a:r>
                    </a:p>
                  </a:txBody>
                  <a:tcPr marL="91440" marR="91440" marT="45720" marB="45720" anchor="ctr">
                    <a:solidFill>
                      <a:srgbClr val="1B1B20"/>
                    </a:solidFill>
                  </a:tcPr>
                </a:tc>
              </a:tr>
              <a:tr h="571500"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F2EEE7"/>
                          </a:solidFill>
                          <a:latin typeface="Arial"/>
                          <a:ea typeface="Arial"/>
                          <a:cs typeface="Arial"/>
                        </a:rPr>
                        <a:t>CANCEL</a:t>
                      </a:r>
                    </a:p>
                  </a:txBody>
                  <a:tcPr marL="91440" marR="91440" marT="45720" marB="45720" anchor="ctr">
                    <a:solidFill>
                      <a:srgbClr val="141418"/>
                    </a:solidFill>
                  </a:tcPr>
                </a:tc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F2EEE7"/>
                          </a:solidFill>
                          <a:latin typeface="Arial"/>
                          <a:ea typeface="Arial"/>
                          <a:cs typeface="Arial"/>
                        </a:rPr>
                        <a:t>Client cancels pending or scoping engagement</a:t>
                      </a:r>
                    </a:p>
                  </a:txBody>
                  <a:tcPr marL="91440" marR="91440" marT="45720" marB="45720" anchor="ctr">
                    <a:solidFill>
                      <a:srgbClr val="141418"/>
                    </a:solidFill>
                  </a:tcPr>
                </a:tc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F2EEE7"/>
                          </a:solidFill>
                          <a:latin typeface="Arial"/>
                          <a:ea typeface="Arial"/>
                          <a:cs typeface="Arial"/>
                        </a:rPr>
                        <a:t>Controlled update with audit history</a:t>
                      </a:r>
                    </a:p>
                  </a:txBody>
                  <a:tcPr marL="91440" marR="91440" marT="45720" marB="45720" anchor="ctr">
                    <a:solidFill>
                      <a:srgbClr val="141418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4CBA67-4B42-42B8-A26B-C2058210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078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48C78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8C78E"/>
                </a:solidFill>
                <a:latin typeface="Arial"/>
                <a:ea typeface="Arial"/>
                <a:cs typeface="Arial"/>
              </a:rPr>
              <a:t>All changes remain after a server restart because MySQL is the source of truth.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01FB7E-D23C-4E08-B333-47CAC72A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85818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58189"/>
                </a:solidFill>
                <a:latin typeface="Arial"/>
                <a:ea typeface="Arial"/>
                <a:cs typeface="Arial"/>
              </a:rPr>
              <a:t>Oracle Red Labs · Academic full-stack application</a:t>
            </a:r>
          </a:p>
        </p:txBody>
      </p:sp>
    </p:spTree>
    <p:extLst>
      <p:ext uri="{BB962C8B-B14F-4D97-AF65-F5344CB8AC3E}">
        <p14:creationId xmlns:p14="http://schemas.microsoft.com/office/powerpoint/2010/main" val="9250586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B0F0C0-2DAC-4F95-94A2-01934C4F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998A4B-B09C-4C9F-B989-736F721F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600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EFB51-B94D-488E-9FC1-AF508164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5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8581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5818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706A00-D656-4764-A14F-6B62A546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Implementation checks completed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9EDF83-2EE9-4A0F-9464-364006FE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Automated and manual evidence covers API behavior, live MySQL persistence, browser scripts, references, and security packages.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7C15FF-ED00-4C81-8174-D97E53C4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32575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41418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A267B8-A8DB-408A-B13E-215F08B4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B1D2FE-C31D-4C71-8763-F6B4422B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2800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default tests passed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572A8E-90C8-4C9F-A29C-B6D13208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14675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1 live DB suite skipped by default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8DEBA4-2140-4F82-9E0B-9DD93567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14550"/>
            <a:ext cx="32575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B1518"/>
          </a:solidFill>
          <a:ln xmlns:a="http://schemas.openxmlformats.org/drawingml/2006/main" w="9525">
            <a:solidFill>
              <a:srgbClr val="E3202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EBDE40-E8E8-41E8-8D6C-4B6C53F3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050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48C78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8C78E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E2C1ED-4A01-4701-BE11-6F9CB4D1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00350"/>
            <a:ext cx="2800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live MySQL suite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294396-D4A5-4F5D-9C9D-2B3FF6C5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14675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complete transaction and CRUD flow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FCB826-7084-4BEF-880A-DE98B869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14550"/>
            <a:ext cx="32575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41418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564F80-1FED-456A-B95E-8B06A44A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050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477CFC-50A1-4F2C-9F56-5D642B5F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00350"/>
            <a:ext cx="2800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database tables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B61872-A6AB-4621-8583-806E594B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14675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schema recreated from empty database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28BA57-3EB0-44B0-96AB-2CFD20C0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32575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41418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C23B87-B9C4-47A4-B671-ACDB6065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48125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40A8CB-8B90-46A4-9745-3F8AD41E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43425"/>
            <a:ext cx="2800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first-party JavaScript files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F03123-CCC1-4CB4-B668-338B8751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syntax checks completed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EC0165-9870-4DF7-8C40-FCFD7BAE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57625"/>
            <a:ext cx="32575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41418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2F1F23-FB64-44DB-A65C-408CA1AE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48125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73D953-340B-41F3-B397-F91F294B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43425"/>
            <a:ext cx="2800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production vulnerabilities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13D9CF-3E80-479A-969D-54483D95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577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npm audit --omit=dev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A89019-F15A-4EFD-AABE-BFC09402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57625"/>
            <a:ext cx="32575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41418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EBEF37-DD03-46E5-855E-1B74175F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48125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3 + 8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98CBAC-E843-4DE2-B959-877C2D57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43425"/>
            <a:ext cx="2800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seed records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FCC00A-C7D3-4292-9FCD-894CCB99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8577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services + vault resources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514BC3-C2E8-469A-8656-DADE2420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420350" cy="438150"/>
          </a:xfrm>
          <a:prstGeom xmlns:a="http://schemas.openxmlformats.org/drawingml/2006/main" prst="roundRect">
            <a:avLst>
              <a:gd name="adj" fmla="val 28261"/>
            </a:avLst>
          </a:prstGeom>
          <a:solidFill xmlns:a="http://schemas.openxmlformats.org/drawingml/2006/main">
            <a:srgbClr val="24242A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103428-7289-4C70-A08B-5E635BFF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86425"/>
            <a:ext cx="1007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Manual browser review: public pages, protected routes, dashboard, detail page, and admin console at 360px and desktop widths.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66928C-66C0-4A2A-B4B1-3FA5AFF6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85818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58189"/>
                </a:solidFill>
                <a:latin typeface="Arial"/>
                <a:ea typeface="Arial"/>
                <a:cs typeface="Arial"/>
              </a:rPr>
              <a:t>Oracle Red Labs · Academic full-stack application</a:t>
            </a:r>
          </a:p>
        </p:txBody>
      </p:sp>
    </p:spTree>
    <p:extLst>
      <p:ext uri="{BB962C8B-B14F-4D97-AF65-F5344CB8AC3E}">
        <p14:creationId xmlns:p14="http://schemas.microsoft.com/office/powerpoint/2010/main" val="9404037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F7A2EA-4239-4AF7-A4A1-8D3B135B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CF5354-994A-418C-B34A-88C8A688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600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99285A-DB72-43A2-B0F5-D460EC95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5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8581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58189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2D492F-A253-4DC4-957F-81A94C70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Ready for a clean setup and live demonstration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83F655-0789-4C30-A291-61F60DF1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The repository contains the source, schema, seed data, documentation, planning artifacts, sample PDF, tests, and presentation.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463F1D-ACA5-4C02-835D-76DE1AD8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4953000" cy="3752850"/>
          </a:xfrm>
          <a:prstGeom xmlns:a="http://schemas.openxmlformats.org/drawingml/2006/main" prst="roundRect">
            <a:avLst>
              <a:gd name="adj" fmla="val 5584"/>
            </a:avLst>
          </a:prstGeom>
          <a:solidFill xmlns:a="http://schemas.openxmlformats.org/drawingml/2006/main">
            <a:srgbClr val="141418"/>
          </a:solidFill>
          <a:ln xmlns:a="http://schemas.openxmlformats.org/drawingml/2006/main" w="9525">
            <a:solidFill>
              <a:srgbClr val="3534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DE323F-CCA8-4E93-A82A-9056EABC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735CE6-D8B8-48E9-B350-8100F85B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4286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1. Register and log in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2. Submit engagement with PDF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3. Confirm related MySQL records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4. View request in client dashboard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5. Update status and invoice as admin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6. Refresh client detail and history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2EEE7"/>
                </a:solidFill>
                <a:latin typeface="Arial"/>
                <a:ea typeface="Arial"/>
                <a:cs typeface="Arial"/>
              </a:rPr>
              <a:t>7. Demonstrate service/resource/inquiry CRUD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6AD986-4BC4-400F-8FB1-753329EC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076450"/>
            <a:ext cx="5715000" cy="3752850"/>
          </a:xfrm>
          <a:prstGeom xmlns:a="http://schemas.openxmlformats.org/drawingml/2006/main" prst="roundRect">
            <a:avLst>
              <a:gd name="adj" fmla="val 5584"/>
            </a:avLst>
          </a:prstGeom>
          <a:solidFill xmlns:a="http://schemas.openxmlformats.org/drawingml/2006/main">
            <a:srgbClr val="1B1518"/>
          </a:solidFill>
          <a:ln xmlns:a="http://schemas.openxmlformats.org/drawingml/2006/main" w="9525">
            <a:solidFill>
              <a:srgbClr val="E3202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A347EF-E89B-4190-9AFC-D12FE8AD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241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F5B6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5B64"/>
                </a:solidFill>
                <a:latin typeface="Arial"/>
                <a:ea typeface="Arial"/>
                <a:cs typeface="Arial"/>
              </a:rPr>
              <a:t>DELIVERABLES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C21061-702E-4418-A7A4-E7180B65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813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48C78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8C78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592AC0-27E8-4B74-A35A-D5CCA581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813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SRS + README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7A1055-2451-4D9E-BBC4-E3075155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81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authoritative requirements and clean setup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C13160-FB24-45C2-917F-9FF46E41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385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48C78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8C78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2248A5-0B24-4985-B0CE-E2C73FD3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385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SQL artifacts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43A857-4853-4609-A062-CCE5D425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schema, seed, and full export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971E9F-E1C2-429A-B44B-3833E0AB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957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48C78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8C78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DEA70E-D4DC-4E70-8422-75C69E6C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957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Milestone 2 PDF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2D8CF5-5B24-419C-BC1D-F6C424E4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957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sitemap, navigation, and wireframes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74E1EC-BDB0-491F-88A5-E66E5A86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1529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48C78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8C78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8CF743-7572-4B73-897E-56796040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529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Sample authorization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471B54-DF45-4776-93EA-1D00270D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529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safe PDF for the live booking flow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BA5390-F64B-491C-AD2F-A378B241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101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48C78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8C78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A182C4-F432-4404-98DB-CE2D35A6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101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Automated checks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71D792-CAA9-402C-B570-076A8E39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101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default and live-database test commands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5C41AA-6F1F-47BB-BFDA-A909320A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0673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48C78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8C78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5257ED-6BD4-430D-B58C-D2AE24E0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673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2EE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2EEE7"/>
                </a:solidFill>
                <a:latin typeface="Arial"/>
                <a:ea typeface="Arial"/>
                <a:cs typeface="Arial"/>
              </a:rPr>
              <a:t>Submission archive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3C1709-F19C-4205-AC97-44AD681D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67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7B2AA"/>
                </a:solidFill>
                <a:latin typeface="Arial"/>
                <a:ea typeface="Arial"/>
                <a:cs typeface="Arial"/>
              </a:rPr>
              <a:t>complete project without secrets or uploads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033104-C239-4FF9-B963-56EC6D22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85818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58189"/>
                </a:solidFill>
                <a:latin typeface="Arial"/>
                <a:ea typeface="Arial"/>
                <a:cs typeface="Arial"/>
              </a:rPr>
              <a:t>Oracle Red Labs · Final academic scope implemented</a:t>
            </a:r>
          </a:p>
        </p:txBody>
      </p:sp>
    </p:spTree>
    <p:extLst>
      <p:ext uri="{BB962C8B-B14F-4D97-AF65-F5344CB8AC3E}">
        <p14:creationId xmlns:p14="http://schemas.microsoft.com/office/powerpoint/2010/main" val="1526309034"/>
      </p:ext>
    </p:extLst>
  </p:cSld>
</p:sld>
</file>

<file path=ppt/theme/theme1.xml><?xml version="1.0" encoding="utf-8"?>
<a:theme xmlns:a="http://schemas.openxmlformats.org/drawingml/2006/main" name="ChatGPT">
  <a:themeElements>
    <a:clrScheme name="Oracle Red Labs">
      <a:dk1>
        <a:srgbClr val="000000"/>
      </a:dk1>
      <a:lt1>
        <a:srgbClr val="FFFFFF"/>
      </a:lt1>
      <a:dk2>
        <a:srgbClr val="18181C"/>
      </a:dk2>
      <a:lt2>
        <a:srgbClr val="E7E2DA"/>
      </a:lt2>
      <a:accent1>
        <a:srgbClr val="E3202E"/>
      </a:accent1>
      <a:accent2>
        <a:srgbClr val="FF5B64"/>
      </a:accent2>
      <a:accent3>
        <a:srgbClr val="8B0F18"/>
      </a:accent3>
      <a:accent4>
        <a:srgbClr val="D7D3CC"/>
      </a:accent4>
      <a:accent5>
        <a:srgbClr val="747178"/>
      </a:accent5>
      <a:accent6>
        <a:srgbClr val="F2EEE7"/>
      </a:accent6>
      <a:hlink>
        <a:srgbClr val="FF5B64"/>
      </a:hlink>
      <a:folHlink>
        <a:srgbClr val="B83A4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racle Red Lab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2026-10-02T05:39:01.2040000Z</dcterms:created>
  <dcterms:modified xsi:type="dcterms:W3CDTF">2026-10-02T05:39:01.2040000Z</dcterms:modified>
</coreProperties>
</file>