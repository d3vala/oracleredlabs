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2469ce5434a47" /><Relationship Type="http://schemas.openxmlformats.org/officeDocument/2006/relationships/extended-properties" Target="/docProps/app.xml" Id="R24ac6cf01a494c82" /><Relationship Type="http://schemas.openxmlformats.org/officeDocument/2006/relationships/officeDocument" Target="/ppt/presentation.xml" Id="Rc79d6422ae6d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258fef6db496f"/>
  </p:sldMasterIdLst>
  <p:notesMasterIdLst>
    <p:notesMasterId xmlns:r="http://schemas.openxmlformats.org/officeDocument/2006/relationships" r:id="Rfb9672f550fb4802"/>
  </p:notesMasterIdLst>
  <p:sldIdLst>
    <p:sldId xmlns:r="http://schemas.openxmlformats.org/officeDocument/2006/relationships" id="256" r:id="Rb0f8a4b0eb4144d0"/>
    <p:sldId xmlns:r="http://schemas.openxmlformats.org/officeDocument/2006/relationships" id="257" r:id="R22cfa37b0d1a4402"/>
    <p:sldId xmlns:r="http://schemas.openxmlformats.org/officeDocument/2006/relationships" id="258" r:id="Rb5ba4403bb0a4faf"/>
    <p:sldId xmlns:r="http://schemas.openxmlformats.org/officeDocument/2006/relationships" id="259" r:id="Re6b452bfb024492b"/>
    <p:sldId xmlns:r="http://schemas.openxmlformats.org/officeDocument/2006/relationships" id="260" r:id="Rf3e14e916705490d"/>
    <p:sldId xmlns:r="http://schemas.openxmlformats.org/officeDocument/2006/relationships" id="261" r:id="Ra2af7566839e4252"/>
    <p:sldId xmlns:r="http://schemas.openxmlformats.org/officeDocument/2006/relationships" id="262" r:id="R9b841fe74ea54e61"/>
    <p:sldId xmlns:r="http://schemas.openxmlformats.org/officeDocument/2006/relationships" id="263" r:id="R50572070fddf49e7"/>
    <p:sldId xmlns:r="http://schemas.openxmlformats.org/officeDocument/2006/relationships" id="264" r:id="Rc1ac5520482c4c89"/>
    <p:sldId xmlns:r="http://schemas.openxmlformats.org/officeDocument/2006/relationships" id="265" r:id="R5a8e3db8a9d34c2b"/>
    <p:sldId xmlns:r="http://schemas.openxmlformats.org/officeDocument/2006/relationships" id="266" r:id="R45ac5a709463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d79221d6f4c50" /><Relationship Type="http://schemas.openxmlformats.org/officeDocument/2006/relationships/slideMaster" Target="/ppt/slideMasters/slideMaster1.xml" Id="R52b258fef6db496f" /><Relationship Type="http://schemas.openxmlformats.org/officeDocument/2006/relationships/notesMaster" Target="/ppt/notesMasters/notesMaster1.xml" Id="Rfb9672f550fb4802" /><Relationship Type="http://schemas.openxmlformats.org/officeDocument/2006/relationships/presProps" Target="/ppt/presProps.xml" Id="Rfd10cc5586ac4189" /><Relationship Type="http://schemas.openxmlformats.org/officeDocument/2006/relationships/tableStyles" Target="/ppt/tableStyles.xml" Id="R0f215ea2dea54d64" /><Relationship Type="http://schemas.openxmlformats.org/officeDocument/2006/relationships/slide" Target="/ppt/slides/slide1.xml" Id="Rb0f8a4b0eb4144d0" /><Relationship Type="http://schemas.openxmlformats.org/officeDocument/2006/relationships/slide" Target="/ppt/slides/slide2.xml" Id="R22cfa37b0d1a4402" /><Relationship Type="http://schemas.openxmlformats.org/officeDocument/2006/relationships/slide" Target="/ppt/slides/slide3.xml" Id="Rb5ba4403bb0a4faf" /><Relationship Type="http://schemas.openxmlformats.org/officeDocument/2006/relationships/slide" Target="/ppt/slides/slide4.xml" Id="Re6b452bfb024492b" /><Relationship Type="http://schemas.openxmlformats.org/officeDocument/2006/relationships/slide" Target="/ppt/slides/slide5.xml" Id="Rf3e14e916705490d" /><Relationship Type="http://schemas.openxmlformats.org/officeDocument/2006/relationships/slide" Target="/ppt/slides/slide6.xml" Id="Ra2af7566839e4252" /><Relationship Type="http://schemas.openxmlformats.org/officeDocument/2006/relationships/slide" Target="/ppt/slides/slide7.xml" Id="R9b841fe74ea54e61" /><Relationship Type="http://schemas.openxmlformats.org/officeDocument/2006/relationships/slide" Target="/ppt/slides/slide8.xml" Id="R50572070fddf49e7" /><Relationship Type="http://schemas.openxmlformats.org/officeDocument/2006/relationships/slide" Target="/ppt/slides/slide9.xml" Id="Rc1ac5520482c4c89" /><Relationship Type="http://schemas.openxmlformats.org/officeDocument/2006/relationships/slide" Target="/ppt/slides/slide10.xml" Id="R5a8e3db8a9d34c2b" /><Relationship Type="http://schemas.openxmlformats.org/officeDocument/2006/relationships/slide" Target="/ppt/slides/slide11.xml" Id="R45ac5a709463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fb2b6f7526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e4578708f14267" /><Relationship Type="http://schemas.openxmlformats.org/officeDocument/2006/relationships/notesMaster" Target="/ppt/notesMasters/notesMaster1.xml" Id="Ra3542bd2a55443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c0f0a687149d7" /><Relationship Type="http://schemas.openxmlformats.org/officeDocument/2006/relationships/notesMaster" Target="/ppt/notesMasters/notesMaster1.xml" Id="R30e42f17ac4049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69903473a415c" /><Relationship Type="http://schemas.openxmlformats.org/officeDocument/2006/relationships/notesMaster" Target="/ppt/notesMasters/notesMaster1.xml" Id="R89e1f02dd45b46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1b9b4d51454d37" /><Relationship Type="http://schemas.openxmlformats.org/officeDocument/2006/relationships/notesMaster" Target="/ppt/notesMasters/notesMaster1.xml" Id="R34ec30276a8c4c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a8e8a33ff4a09" /><Relationship Type="http://schemas.openxmlformats.org/officeDocument/2006/relationships/notesMaster" Target="/ppt/notesMasters/notesMaster1.xml" Id="Rbce69fb0fcd0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4882d81f4479d" /><Relationship Type="http://schemas.openxmlformats.org/officeDocument/2006/relationships/notesMaster" Target="/ppt/notesMasters/notesMaster1.xml" Id="Rb6192d348839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cbaa0ebdb14b15" /><Relationship Type="http://schemas.openxmlformats.org/officeDocument/2006/relationships/notesMaster" Target="/ppt/notesMasters/notesMaster1.xml" Id="R3468970826e645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85986e44f1400d" /><Relationship Type="http://schemas.openxmlformats.org/officeDocument/2006/relationships/notesMaster" Target="/ppt/notesMasters/notesMaster1.xml" Id="R6caa250dfe0a40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8289384330424f" /><Relationship Type="http://schemas.openxmlformats.org/officeDocument/2006/relationships/notesMaster" Target="/ppt/notesMasters/notesMaster1.xml" Id="Raf88f40c87d645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882ae428564353" /><Relationship Type="http://schemas.openxmlformats.org/officeDocument/2006/relationships/notesMaster" Target="/ppt/notesMasters/notesMaster1.xml" Id="Rac1ba7bef1ae4e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7bc18ff6ac4c55" /><Relationship Type="http://schemas.openxmlformats.org/officeDocument/2006/relationships/notesMaster" Target="/ppt/notesMasters/notesMaster1.xml" Id="Rc10d84fd357c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Oracle Red Labs as a fictional academic security consultancy and explain that the implementation focuses on a complete, honest, demonstrable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proposal was intentionally narrowed to meet the course rubric with a complete database-backed workflow. Unsupported claims were removed from the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engagement request is the core evidence because it includes authentication, upload validation, a multi-table transaction, administrator updates, and client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three access zones. Mention that unauthenticated attempts to open private pages are redirected to login, and administrator pages require the admin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same-origin design and raw SQL. The structure keeps database work visible for assessment while separating routes, validation, middleware, and business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engagements as the transactional center. Users own engagements, services are snapshotted for price, and dependent records provide targets, authorization evidence, invoice state, and status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every state-changing endpoint requires a valid session, correct role, CSRF token, validated input, and parameterized query. Uploaded PDFs are outside the public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preserved engagement wizard, vault filters, and password confirmation, then show the new shared API helper, dashboard, detail page, and working administrator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CRUD presentation checklist. Explain why engagements are cancelled instead of hard-deleted and why referenced services are deactivated.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evidence precisely: the default test run passes six tests and skips the opt-in database suite; that suite was then run separately against a live isolated MySQL instance and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running the acceptance scenario. Keep separate client and administrator browser sessions open and use the included sample authorization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1ba6c6bdc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76008f83134458" /><Relationship Type="http://schemas.openxmlformats.org/officeDocument/2006/relationships/slideLayout" Target="/ppt/slideLayouts/slideLayout1.xml" Id="Ra31ea421cf10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ea421cf10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6c4fe62eb42fc" /><Relationship Type="http://schemas.openxmlformats.org/officeDocument/2006/relationships/image" Target="/ppt/media/image.png" Id="Raa849cfa035142b5" /><Relationship Type="http://schemas.openxmlformats.org/officeDocument/2006/relationships/notesSlide" Target="/ppt/notesSlides/notesSlide1.xml" Id="R1c256bdd2d3b4b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5500cade34ed1" /><Relationship Type="http://schemas.openxmlformats.org/officeDocument/2006/relationships/notesSlide" Target="/ppt/notesSlides/notesSlide2.xml" Id="Rb2e934cabe91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9297ff5fd45cf" /><Relationship Type="http://schemas.openxmlformats.org/officeDocument/2006/relationships/notesSlide" Target="/ppt/notesSlides/notesSlide3.xml" Id="R79f6fc93ba0443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4f2cfbde54c12" /><Relationship Type="http://schemas.openxmlformats.org/officeDocument/2006/relationships/notesSlide" Target="/ppt/notesSlides/notesSlide4.xml" Id="R7bb07931be3c48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7a4cd989248a7" /><Relationship Type="http://schemas.openxmlformats.org/officeDocument/2006/relationships/notesSlide" Target="/ppt/notesSlides/notesSlide5.xml" Id="R370b9c7844c5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cbc8999b4d9c" /><Relationship Type="http://schemas.openxmlformats.org/officeDocument/2006/relationships/notesSlide" Target="/ppt/notesSlides/notesSlide6.xml" Id="R1462269a451b4c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e8ece7b44915" /><Relationship Type="http://schemas.openxmlformats.org/officeDocument/2006/relationships/notesSlide" Target="/ppt/notesSlides/notesSlide7.xml" Id="R1f885ec728c44d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0298837d2425e" /><Relationship Type="http://schemas.openxmlformats.org/officeDocument/2006/relationships/image" Target="/ppt/media/image.bin" Id="R51f9400ae75548f3" /><Relationship Type="http://schemas.openxmlformats.org/officeDocument/2006/relationships/notesSlide" Target="/ppt/notesSlides/notesSlide8.xml" Id="R0b9ca0fba69045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33db9053741b4" /><Relationship Type="http://schemas.openxmlformats.org/officeDocument/2006/relationships/notesSlide" Target="/ppt/notesSlides/notesSlide9.xml" Id="Rdd7d851fc4864d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3b90d49a44c88" /><Relationship Type="http://schemas.openxmlformats.org/officeDocument/2006/relationships/notesSlide" Target="/ppt/notesSlides/notesSlide10.xml" Id="Rdb3bf1525b3b43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8a402f6c84e0b" /><Relationship Type="http://schemas.openxmlformats.org/officeDocument/2006/relationships/notesSlide" Target="/ppt/notesSlides/notesSlide11.xml" Id="R1089fd99bbd2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49cfa035142b5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DC2B-53A1-4AE1-86EA-00A9397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909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AA30A-4D35-4480-BAE3-E3B9F9B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1017"/>
          </a:solidFill>
          <a:ln xmlns:a="http://schemas.openxmlformats.org/drawingml/2006/main" w="9525">
            <a:solidFill>
              <a:srgbClr val="6F101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470F6-2523-4957-8709-71BF84A4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84F36-B6B6-46E4-8046-21A88B6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ORACLE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RED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DD8F-3466-4CF2-A02B-AAB50B9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 secure engagement request and management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BA315-4931-4B06-845A-46B85AE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457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D36C5-22A0-4868-8A6E-32DA0E4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Node.js · Express · MySQL · Vanilla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094A6-F195-487D-BEC8-8E0550A4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Academic implementation · Final delivery</a:t>
            </a:r>
          </a:p>
        </p:txBody>
      </p:sp>
    </p:spTree>
    <p:extLst>
      <p:ext uri="{BB962C8B-B14F-4D97-AF65-F5344CB8AC3E}">
        <p14:creationId xmlns:p14="http://schemas.microsoft.com/office/powerpoint/2010/main" val="2145261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B1796-3399-4073-B930-E7BD59D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A2DBC-9472-46E4-ADB5-CD34DA2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49FB9-34D3-4728-8A8E-3CC71CB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F7955-1A4E-4D8F-A242-2557640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From ambitious proposal to a finished academic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94BA-1563-4C44-9D78-00A71F30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delivered scope now supports organization membership, shared ownership, and role-projected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1FA0D-B10B-421A-8695-CB21954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FD9C-8D32-4E1F-B98E-9EE1DAB9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242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C2F71-B440-4F05-9F2D-6A19A35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ORIGINAL 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EEF40-D337-4C03-BA8C-1C81B39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Offensive security services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Live attack activity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Payments and subscriptions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Reports, findings, retesting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Encrypted communications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5A666-947D-4427-8E21-EBF77BA3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4FECE-EA2D-4AA8-A35B-41B27C67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B3A1C-7D3E-4EFB-A8C4-C56549A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1017"/>
          </a:solidFill>
          <a:ln xmlns:a="http://schemas.openxmlformats.org/drawingml/2006/main" w="9525">
            <a:solidFill>
              <a:srgbClr val="6F10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BEBCC-C5C9-4E07-9960-49CBB18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IMPLEMENTED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FF6A-356E-4DE4-AD2B-100C626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Organization registration and login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Memberships and role enforcement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Invitation registration and acceptance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Shared engagement ownership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Client and admin operational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4B09C-7F61-4830-A7FC-A655F97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SHIPPED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6703D-A1A8-4194-B992-79B827C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8DC71-75A7-45C8-9B52-147242F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2424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37DEA-1905-4041-91C6-6A0A42BD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C15B8-6C75-4AAF-8256-0241276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Stripe payments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Attack automation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Finding and report management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Email verification and recovery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Notification design and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1D4E-993A-4B16-9927-5FC6E00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C9F8D-127C-40EA-828A-4F332AB5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54716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9C4A04-D8D0-49C1-ACCA-C448DA4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BEFC6-04DF-4529-B361-1BBF0DD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B8C54-9C0C-4298-9512-A4CD278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230B9-5851-4945-8703-452A7F03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One organization boundary proves the shared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DAD78-50DB-4864-871F-00C2A6A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Every major layer participates in a traceable, role-controlled engagement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94DE8-0125-405C-91D8-F3F3B497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54936-73B9-4A9C-9A7F-6FA398E0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E784E-BFC9-4C79-9868-1A2D1A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Register / join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D383A-1EC5-44A4-A572-764C9D2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Session + active org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54F0E-CBBA-43D9-90A8-EBB5E39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6952B-A04F-48D1-9C62-1F5EE593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B8512-57AA-4123-84E8-3BD7F6F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1B5B9-7C88-4D2A-8EAE-2DBDF52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Switch org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12273-856E-4B0C-8A55-A233A55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Membership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07553-F05F-4256-9244-D9F9BA4F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2F9F6-D988-47DD-9359-753052E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216E0-1E8A-4542-AD91-4AC6405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B5104-064C-4725-BCFC-7EEE1FB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Submit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22243-F953-44C9-A8D6-453CB39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Org + submitter 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ED094-6CC9-4D49-A899-9B5F243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EB11C-A89D-40B4-88B1-C50A29F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2ACEB-5179-4B4C-A024-6A1EE5F8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DA9D4-B3A7-47B2-B303-6463F8CB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30FD9-7C53-4D30-B999-CDD01A20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Transactional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F0644-A513-42B5-8A0C-BB74E9F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331DB-95E3-4FE2-A6CB-2526216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C247A-5E85-408F-89AF-45486CCC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474FA-9040-4971-A2C3-D6348FB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Role-gated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A8EBE-C1AE-4C9C-BC47-0808F63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Member + billing views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1F9C7-38E8-4426-A29A-23E47D7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89923-0229-4ECC-9AA9-73D23DA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01BF4-3896-4D19-8F71-C94492D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90CC7-9B11-4342-A99A-E6A3774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Admin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FE01C-3512-45D7-828C-860D2A5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Org + submitter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5468AB-352F-41EA-833A-17482C6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20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BC7F6E-FACD-4B9F-91B0-C9C9E6F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Acceptance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B090B2-07C3-4018-96A7-5190665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membership → active organization → shared engagement → role projection → admin oversight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C0BAF0-283E-4182-8BDF-BCB99F6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32890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BBD03E-3439-4B9E-8D53-5177E29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INFORMATION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874C1-02BD-42F4-8A24-5B3384F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1516-B4D3-44C0-ABAD-4807F09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D6228-3E76-489C-B671-7E36DC4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Public, organization, and administrator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B0F00-6EB0-47FE-861A-F3BC8BE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Navigation keeps discovery open while protecting personal and operational records by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0867B-F712-46CC-B43F-F5A87AD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E0935-C399-46BE-A911-4996241E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BA1C8-8CA0-4537-A269-90595990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1549-C951-45B6-9BCF-649C8677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569E9-EA6F-4F70-ABA3-4A4C500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9769B-0CE4-475A-ABB1-C37D0E5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CC658-52D6-464E-99B8-50E76DB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55D1D-3F86-43C9-A8D7-81EEB1D8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Who we 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DCF2F-E96E-4E6A-986E-ABF7644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D1B6-6FDA-4E9B-9854-ED6A224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Vault 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AF168-2EC3-44A3-BDED-A819AF4E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100D-CD92-46C7-B0C0-437E9AB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1AF43-6BAC-4802-BBB9-E5A5FCE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E2EC4-FDEB-4237-8C72-D5BBAD0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Register / login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A878C-BEA9-4E58-992D-EC40A221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D2A9B-24A1-4FFD-A40D-5981711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ORGANIZATION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1DA6C-C741-4871-94C5-733A86B0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D92F3-87BC-4293-A8C5-EF2EBAF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Organization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C5151-64D2-44C2-8B46-3DB797D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3AAF4-A89E-45BE-9BBC-0C751B8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Shared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D987B-D18F-4001-8E84-4108F6D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88626-D169-45F4-91ED-B9A45AE0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detail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A7E07-2086-4DCC-B388-5B544937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58127-A310-4AAC-8B55-2429607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Invitation acceptance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845C5-8026-46AB-832F-3439049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C8BF4-0F6A-4E82-AC46-53971D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Role-aware 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8BD3A-ACC2-4780-B796-CDBDBC4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9AF81-67AC-4D36-A923-9578613F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Active-org switch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3E2B5-A1A9-4306-9A2F-C2E03227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788394-2429-42F0-9063-78E707B8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16800-6D2D-4689-8C29-AF52D27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A89363-B801-45FC-8BA6-F31B98A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Admin console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B2A7D-231C-440B-B7B6-69BB8814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E7CC3C-F6E3-4F6E-B8C7-C8F8D75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 CRUD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3B9E2-31C4-4219-8EFB-A2158DF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1A578-74F5-4D29-864F-71CD1BA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Resource CRUD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EDEDEB-198F-4F56-BD1C-D334F1D6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05D1A6-BF39-46F6-999B-2634770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Inquiry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92C6FC-8E7D-43FC-8029-0ECE620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2D9D07-0804-4AAD-9854-5BC5B4A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BB0DB-8718-474A-8009-6581EEC2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6C6302-F4D2-45C7-86EF-7DDA853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Invoice + PDF access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1E3EC1-22A4-42A4-AA4E-1568C60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Milestone 2 sitemap and wireframes are included as Markdown and PDF artifacts</a:t>
            </a:r>
          </a:p>
        </p:txBody>
      </p:sp>
    </p:spTree>
    <p:extLst>
      <p:ext uri="{BB962C8B-B14F-4D97-AF65-F5344CB8AC3E}">
        <p14:creationId xmlns:p14="http://schemas.microsoft.com/office/powerpoint/2010/main" val="1012992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221CD-A06D-4294-80A8-EEB85AF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A426-209F-4263-A514-1B02D17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C6D4-158A-464E-8CC2-8FA8F51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6A96-7438-480D-8048-49C1A43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Same-origin full-stack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3B807-541D-40F6-AB72-34A9E22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 modular Express application serves the interface, organization context, and documented JSON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703A-9142-4813-8707-F73834B7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46EA4-7AC4-4852-A781-C528112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55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2869-2807-4404-BFA3-A8A7ADB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145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Semantic HTML · CSS · Plain JavaScript · fetch · FormData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D9B61-AFB2-4283-A584-232185C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22E1B-D31F-4816-8AC5-B73253A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3F0AB-E896-4AFE-9423-AB9BB921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EXPRESS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4D930-BB63-441B-A59B-6430CE3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Routes · sessions · CSRF · active organization · role capabilities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B23B-7C7B-4EBB-8237-56A4DD9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821C9-954B-4AFE-9030-22CD42F3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1132B-7BBD-476B-BCB3-FAB0FDBF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E16F6-E500-4A53-8E04-0DC3EC2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00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Parameterized SQL · transactions · row locks · relational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A1FB3-67F6-4B46-9911-C930011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0057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07417-2336-421D-A5D5-8922942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1C179-A9CE-42B6-BDB8-C2DD708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PROTECTED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E738E-3CA0-4DB1-B3E3-E95225B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Randomized PDF filenames · signature checks · SHA-256 metadata · admin-only download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DBB14-D44F-45A8-813C-9E01DCE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24075"/>
            <a:ext cx="2057400" cy="3552825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7EF99-6E14-4CC8-8458-754F324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05EF4-ACA9-4911-B4E0-7239D742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152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Node.js 24 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Express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bcryptjs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multer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helmet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56451-ADFD-4A33-BCC6-4B36D2F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158279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2E744-5422-4A61-AB7F-D767A42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D6379-35BD-42B8-A14E-F76C828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B4AA4-897E-4E72-B441-27FC24F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68421-0914-450E-8BCC-B1E024B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The database preserves ownership and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051EC-6E13-487A-8C24-6DEBB6A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Thirteen InnoDB tables preserve organizations, memberships, invitations, price snapshots, and audit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1D493-538D-444C-B2E3-FABE40A0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6BFD3-DAD4-43DC-838D-28BA756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F6373-2787-4188-AFFF-5E459EC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01C7-CD2F-4C61-95A6-A3921FD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C8B4A-5942-40A5-9BC6-B2BD168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2383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8EC76-A526-4DB9-8458-64A3013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ORG ENGAGEMENTS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4D9FD-2ABB-44B3-8B7C-5A29C74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025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1C82D-E20B-4C11-ACDA-7DE3E3B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3B22D-C287-43BB-A49B-AFE68096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2894-2D86-4F02-A212-CD88641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323BC-6570-45F0-9D2B-FBF2DEC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67DFB-2ED8-44B1-9C8E-EF4343B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19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INVOICES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1E178-36D4-4E8A-A7FD-D57D21A1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72025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94AFF-E385-4FF7-910F-B7135ED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434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STATUS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D642D-40F9-45BD-847D-1CA205D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BE9B3-6907-4A9F-910B-7697A597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17265-0D6A-4ED6-BC9A-7AA6089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148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1C61A-9493-4FA8-88AA-AF33E23D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AD85D-3092-446D-9404-343064D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2200" y="2581275"/>
            <a:ext cx="12001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A08E4-71AA-419E-B93A-D4830F9F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62200" y="3267075"/>
            <a:ext cx="12001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27941-7525-40FC-AA89-6BE68F6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00725" y="2343150"/>
            <a:ext cx="128587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9EA49-C136-429E-B644-8EE6743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E69EE-ACA1-4D3C-8F39-1200868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FA0F7-F21B-4924-A6D3-2327C78F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8B474-8BF3-4089-9316-EA8DDFF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96350" y="3181350"/>
            <a:ext cx="6477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2DC7B-C5DB-491C-83BC-C74E4C5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58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DDCB1-E87A-44E0-970F-5F985A4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Organization → members, invitations, and engagements · every request retains its submitter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B9242-FA26-4163-9E76-9E0A06E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Schema target: MySQL 8.4 LTS · Validation environment: MySQL 8.0.42</a:t>
            </a:r>
          </a:p>
        </p:txBody>
      </p:sp>
    </p:spTree>
    <p:extLst>
      <p:ext uri="{BB962C8B-B14F-4D97-AF65-F5344CB8AC3E}">
        <p14:creationId xmlns:p14="http://schemas.microsoft.com/office/powerpoint/2010/main" val="1178504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A1A09-4831-41FE-A9EA-C70F49F1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BACKEND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2EA5-0C61-4347-A4AB-B40F7CB3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0F944-C444-4CF5-A31A-A488AC66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F290C-076D-4EE1-83E2-3FEE5022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Security is enforced on the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D0D3E-397D-4C36-AB09-0903E1D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interface helps users, but Express and MySQL decide what is valid and who may access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4A89-9378-4878-AEBD-FF1740C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D053C-F88F-47F6-862E-8F4AFEE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B2F28-8675-4DFE-ABC5-515E304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bcryptjs hashes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34D29-BF4C-4FFE-A7B8-6E30FC0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95804-0F99-4629-AFB4-F37853F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7C112-5DBF-4EB1-AAC0-2DEA09E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MySQL-backed, secure cookie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CEF0B-7939-42C4-9F45-13CD1A0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EFE19-1BAA-4E08-BABF-FBDAA0B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6616-7A11-41EC-876A-C32ECBD6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CSRF tokens and rate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EE70F-F4E3-4444-BEB2-66ED1CC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B9F41-2759-4929-A828-5C34F69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AD479-CC98-4F31-9076-A33A2851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Active organization + role capabilities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8B4D7-06EB-48E1-ADCF-F6B5AE7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76B52-B0F3-4CC6-A36E-17B93B8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3C1C1-D0C2-4CC6-B8EF-0CBCBF9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Row locks + owner-safe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505CA-EDAE-4689-A15A-FC59C99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B7FC4-D3BF-44EF-B564-9BC722C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UPLOADS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6DB38-0CBF-46C5-9C52-D3A403B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PDF MIME, signature, size, and SHA-256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65721-131C-4DC8-A4E4-92956F44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4203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A0846-A01E-41E5-B6A9-D15D17C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96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Owner changes, invitation acceptance, and engagement creation commit together—or roll back together.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368C-71AC-4F84-A24D-E91A648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603005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56EA2-F19C-4202-9854-1BC31F41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A2A24-AAA6-4C4D-8162-20AF827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4FAA8-5C1D-4E1B-89AC-2F3EB2A0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556F6-A9E7-4D2E-8177-4453874F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The existing visual system now runs on real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2C48A-0AD6-41F3-B448-D0B40B1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Build-free and framework-free, with authenticated application states across the full workflow.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9400ae75548f3"/>
          <a:srcRect xmlns:a="http://schemas.openxmlformats.org/drawingml/2006/main" l="7169" t="0" r="7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047875"/>
            <a:ext cx="4438650" cy="3886200"/>
          </a:xfrm>
          <a:prstGeom xmlns:a="http://schemas.openxmlformats.org/drawingml/2006/main" prst="roundRect">
            <a:avLst>
              <a:gd name="adj" fmla="val 53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0A184-B1E0-473D-9569-D246298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AB72-B408-48C9-B795-E5B1C31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Organization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FFD5A-FBD5-4FD4-9E11-E2527CE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98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Active-org selector, capabilities, shared navigation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B1AF2-772B-4429-934F-60CCBCF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29146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945D1-8793-4A80-8D30-C26B39E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D0E4-DA5C-4668-B0D0-7EB1EEDB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Invitation journeys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B9691-FE34-423F-A20D-AF52A7A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Preview, registration, acceptance, manual copy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1EB02-C171-4E27-9691-DDC6E18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38671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B590E-50B2-4771-8BB7-035DA6C8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3E433-C698-4B24-A9C1-6CE95D7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Role-projected 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AE707-D2ED-45F3-AAED-5B7E5212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148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Owner, manager, member, and billing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24210-6FD3-467E-A578-5B517B0F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48196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0337-212A-45D2-A630-4DF63FE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CB185-313B-48F8-9DAA-D2B4666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Shared engagements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B5B1B-BEFF-478B-91DC-DDE5E37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673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Organization ownership, submitter, and admin oversight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44831-5798-43DB-8E3C-40E1B7C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Semantic HTML · Accessible labels · Loading, empty, validation, success, and error states</a:t>
            </a:r>
          </a:p>
        </p:txBody>
      </p:sp>
    </p:spTree>
    <p:extLst>
      <p:ext uri="{BB962C8B-B14F-4D97-AF65-F5344CB8AC3E}">
        <p14:creationId xmlns:p14="http://schemas.microsoft.com/office/powerpoint/2010/main" val="1930193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A263-AF1E-4531-B601-FB7A929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CRUD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B85F-B64E-4D3A-BE98-7EF9F5D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BB516-AD7F-43C6-A178-68E0882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6B18-3C3E-4868-A6EE-EF4FC34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Role-controlled organization CRUD is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C3236-5538-4C94-BDED-B275001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Membership, invitation, and shared engagement actions remain transactional and ownership-safe.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33900"/>
                <a:gridCol w="4533900"/>
              </a:tblGrid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PRIMARY DEMONSTRATION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PERSISTENCE RULE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CREATE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Registration, invitation, engagement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Transactional records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READ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Shared dashboard, roster, invoices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Active-org + role projection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Active org, member role, workflow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Owner/manager policy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Membership, invitation, catalogue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References + final-owner guard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CONTROLLED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Pending/scoping cancellation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Status history retained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CBA67-4B42-42B8-A26B-C20582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All changes remain after a server restart because MySQL is the source of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1FB7E-D23C-4E08-B333-47CAC72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925058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0F0C0-2DAC-4F95-94A2-01934C4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98A4B-B09C-4C9F-B989-736F721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FB51-B94D-488E-9FC1-AF50816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06A00-D656-4764-A14F-6B62A54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Implementation checks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DF83-2EE9-4A0F-9464-364006F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Automated and manual evidence covers API behavior, live MySQL persistence, browser scripts, references, and security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C15FF-ED00-4C81-8174-D97E53C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67B8-A8DB-408A-B13E-215F08B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D2FE-C31D-4C71-8763-F6B4422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default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72A8E-90C8-4C9F-A29C-B6D13208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1 live DB suite skipped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DEBA4-2140-4F82-9E0B-9DD9356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BDE40-E8E8-41E8-8D6C-4B6C53F3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2C1ED-4A01-4701-BE11-6F9CB4D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live MySQL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94396-D4A5-4F5D-9C9D-2B3FF6C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membership + shared engagement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B826-7084-4BEF-880A-DE98B869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64F80-1FED-456A-B95E-8B06A44A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77CFC-50A1-4F2C-9F56-5D642B5F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database 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61872-A6AB-4621-8583-806E594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schema recreated from empty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8BA57-3EB0-44B0-96AB-2CFD20C0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23B87-B9C4-47A4-B671-ACDB6065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0A8CB-8B90-46A4-9745-3F8AD41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first-party JavaScript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03123-CCC1-4CB4-B668-338B8751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syntax checks 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C0165-9870-4DF7-8C40-FCFD7BA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F1F23-FB64-44DB-A65C-408CA1A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3D953-340B-41F3-B397-F91F294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production vulnerabilities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3D9CF-3E80-479A-969D-54483D9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npm audit --omit=dev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89019-F15A-4EFD-AABE-BFC0940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BEF37-DD03-46E5-855E-1B74175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3 + 8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8CBAC-E843-4DE2-B959-877C2D5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seed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CC00A-C7D3-4292-9FCD-894CCB9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services + vault resources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14BC3-C2E8-469A-8656-DADE2420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42035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103428-7289-4C70-A08B-5E635BFF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1007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Manual browser review: org switching, invitations, shared engagements, billing restrictions, and keyboard use at 390px and desktop widths.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6928C-66C0-4A2A-B4B1-3FA5AFF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940403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7A2EA-4239-4AF7-A4A1-8D3B135B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F5354-994A-418C-B34A-88C8A688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285A-DB72-43A2-B0F5-D460EC95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D492F-A253-4DC4-957F-81A94C70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Ready for a clean setup and live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3F655-0789-4C30-A291-61F60DF1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repository contains organization-aware source, schema, fictional data, documentation, screenshots, tests, and this 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63F1D-ACA5-4C02-835D-76DE1AD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E323F-CCA8-4E93-A82A-9056EAB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35CE6-D8B8-48E9-B350-8100F85B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286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1. Register and create an organization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2. Invite and join a member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3. Switch the active organization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4. Submit a shared engagement with PDF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5. Compare member and billing views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6. Update status and invoice as admin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7. Review organization + submitter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D986-4BC4-400F-8FB1-753329E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571500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347EF-E89B-4190-9AFC-D12FE8A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1061-702E-4418-A7A4-E7180B6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92AC0-27E8-4B74-A35A-D5CCA58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SRS + 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A1055-2451-4D9E-BBC4-E3075155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authoritative requirements and clean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13160-FB24-45C2-917F-9FF46E4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248A5-0B24-4985-B0CE-E2C73FD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Organization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3A857-4853-4609-A062-CCE5D42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schema, migration, test schema, and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71E9F-E1C2-429A-B44B-3833E0A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EA70E-D4DC-4E70-8422-75C69E6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Milestone 2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D8CF5-5B24-419C-BC1D-F6C424E4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sitemap, navigation, and wireframes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4E1EC-BDB0-491F-88A5-E66E5A86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CF743-7572-4B73-897E-5679604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Sample authorization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71B54-DF45-4776-93EA-1D00270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safe PDF for the live booking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A5390-F64B-491C-AD2F-A378B24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0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182C4-F432-4404-98DB-CE2D35A6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Automated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1D792-CAA9-402C-B570-076A8E3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default and isolated live-database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C41AA-6F1F-47BB-BFDA-A909320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67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257ED-6BD4-430D-B58C-D2AE24E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Submission archive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C1709-F19C-4205-AC97-44AD681D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complete project without secrets or uploads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33104-C239-4FF9-B963-56EC6D2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Final academic scope implemented</a:t>
            </a:r>
          </a:p>
        </p:txBody>
      </p:sp>
    </p:spTree>
    <p:extLst>
      <p:ext uri="{BB962C8B-B14F-4D97-AF65-F5344CB8AC3E}">
        <p14:creationId xmlns:p14="http://schemas.microsoft.com/office/powerpoint/2010/main" val="1526309034"/>
      </p:ext>
    </p:extLst>
  </p:cSld>
</p:sld>
</file>

<file path=ppt/theme/theme1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2026-10-04T10:51:59.6650000Z</dcterms:created>
  <dcterms:modified xsi:type="dcterms:W3CDTF">2026-10-04T10:51:59.6650000Z</dcterms:modified>
</coreProperties>
</file>